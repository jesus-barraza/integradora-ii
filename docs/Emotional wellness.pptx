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Alice" charset="1" panose="00000500000000000000"/>
      <p:regular r:id="rId14"/>
    </p:embeddedFont>
    <p:embeddedFont>
      <p:font typeface="Montserrat Light" charset="1" panose="00000400000000000000"/>
      <p:regular r:id="rId15"/>
    </p:embeddedFont>
    <p:embeddedFont>
      <p:font typeface="Montserrat" charset="1" panose="00000500000000000000"/>
      <p:regular r:id="rId16"/>
    </p:embeddedFont>
    <p:embeddedFont>
      <p:font typeface="Open Sans" charset="1" panose="020B0606030504020204"/>
      <p:regular r:id="rId17"/>
    </p:embeddedFont>
    <p:embeddedFont>
      <p:font typeface="Montserrat Bold" charset="1" panose="000008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jpeg" Type="http://schemas.openxmlformats.org/officeDocument/2006/relationships/image"/><Relationship Id="rId4" Target="../media/image11.jpeg" Type="http://schemas.openxmlformats.org/officeDocument/2006/relationships/image"/><Relationship Id="rId5" Target="../media/image12.jpeg" Type="http://schemas.openxmlformats.org/officeDocument/2006/relationships/image"/><Relationship Id="rId6"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 Id="rId3" Target="../media/image1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6EEFD"/>
        </a:solidFill>
      </p:bgPr>
    </p:bg>
    <p:spTree>
      <p:nvGrpSpPr>
        <p:cNvPr id="1" name=""/>
        <p:cNvGrpSpPr/>
        <p:nvPr/>
      </p:nvGrpSpPr>
      <p:grpSpPr>
        <a:xfrm>
          <a:off x="0" y="0"/>
          <a:ext cx="0" cy="0"/>
          <a:chOff x="0" y="0"/>
          <a:chExt cx="0" cy="0"/>
        </a:xfrm>
      </p:grpSpPr>
      <p:sp>
        <p:nvSpPr>
          <p:cNvPr name="Freeform 2" id="2"/>
          <p:cNvSpPr/>
          <p:nvPr/>
        </p:nvSpPr>
        <p:spPr>
          <a:xfrm flipH="false" flipV="false" rot="0">
            <a:off x="316385" y="1194776"/>
            <a:ext cx="5668137" cy="8229600"/>
          </a:xfrm>
          <a:custGeom>
            <a:avLst/>
            <a:gdLst/>
            <a:ahLst/>
            <a:cxnLst/>
            <a:rect r="r" b="b" t="t" l="l"/>
            <a:pathLst>
              <a:path h="8229600" w="5668137">
                <a:moveTo>
                  <a:pt x="0" y="0"/>
                </a:moveTo>
                <a:lnTo>
                  <a:pt x="5668137" y="0"/>
                </a:lnTo>
                <a:lnTo>
                  <a:pt x="5668137" y="8229600"/>
                </a:lnTo>
                <a:lnTo>
                  <a:pt x="0" y="8229600"/>
                </a:lnTo>
                <a:lnTo>
                  <a:pt x="0" y="0"/>
                </a:lnTo>
                <a:close/>
              </a:path>
            </a:pathLst>
          </a:custGeom>
          <a:blipFill>
            <a:blip r:embed="rId2"/>
            <a:stretch>
              <a:fillRect l="0" t="0" r="0" b="0"/>
            </a:stretch>
          </a:blipFill>
        </p:spPr>
      </p:sp>
      <p:sp>
        <p:nvSpPr>
          <p:cNvPr name="Freeform 3" id="3"/>
          <p:cNvSpPr/>
          <p:nvPr/>
        </p:nvSpPr>
        <p:spPr>
          <a:xfrm flipH="true" flipV="false" rot="0">
            <a:off x="12775554" y="1044582"/>
            <a:ext cx="4862094" cy="8529989"/>
          </a:xfrm>
          <a:custGeom>
            <a:avLst/>
            <a:gdLst/>
            <a:ahLst/>
            <a:cxnLst/>
            <a:rect r="r" b="b" t="t" l="l"/>
            <a:pathLst>
              <a:path h="8529989" w="4862094">
                <a:moveTo>
                  <a:pt x="4862094" y="0"/>
                </a:moveTo>
                <a:lnTo>
                  <a:pt x="0" y="0"/>
                </a:lnTo>
                <a:lnTo>
                  <a:pt x="0" y="8529989"/>
                </a:lnTo>
                <a:lnTo>
                  <a:pt x="4862094" y="8529989"/>
                </a:lnTo>
                <a:lnTo>
                  <a:pt x="4862094" y="0"/>
                </a:lnTo>
                <a:close/>
              </a:path>
            </a:pathLst>
          </a:custGeom>
          <a:blipFill>
            <a:blip r:embed="rId3"/>
            <a:stretch>
              <a:fillRect l="0" t="0" r="0" b="0"/>
            </a:stretch>
          </a:blipFill>
        </p:spPr>
      </p:sp>
      <p:grpSp>
        <p:nvGrpSpPr>
          <p:cNvPr name="Group 4" id="4"/>
          <p:cNvGrpSpPr/>
          <p:nvPr/>
        </p:nvGrpSpPr>
        <p:grpSpPr>
          <a:xfrm rot="0">
            <a:off x="4757328" y="1028700"/>
            <a:ext cx="8773343" cy="8229600"/>
            <a:chOff x="0" y="0"/>
            <a:chExt cx="2310675" cy="2167467"/>
          </a:xfrm>
        </p:grpSpPr>
        <p:sp>
          <p:nvSpPr>
            <p:cNvPr name="Freeform 5" id="5"/>
            <p:cNvSpPr/>
            <p:nvPr/>
          </p:nvSpPr>
          <p:spPr>
            <a:xfrm flipH="false" flipV="false" rot="0">
              <a:off x="0" y="0"/>
              <a:ext cx="2310675" cy="2167467"/>
            </a:xfrm>
            <a:custGeom>
              <a:avLst/>
              <a:gdLst/>
              <a:ahLst/>
              <a:cxnLst/>
              <a:rect r="r" b="b" t="t" l="l"/>
              <a:pathLst>
                <a:path h="2167467" w="2310675">
                  <a:moveTo>
                    <a:pt x="45004" y="0"/>
                  </a:moveTo>
                  <a:lnTo>
                    <a:pt x="2265671" y="0"/>
                  </a:lnTo>
                  <a:cubicBezTo>
                    <a:pt x="2277607" y="0"/>
                    <a:pt x="2289053" y="4742"/>
                    <a:pt x="2297493" y="13181"/>
                  </a:cubicBezTo>
                  <a:cubicBezTo>
                    <a:pt x="2305933" y="21621"/>
                    <a:pt x="2310675" y="33068"/>
                    <a:pt x="2310675" y="45004"/>
                  </a:cubicBezTo>
                  <a:lnTo>
                    <a:pt x="2310675" y="2122463"/>
                  </a:lnTo>
                  <a:cubicBezTo>
                    <a:pt x="2310675" y="2134398"/>
                    <a:pt x="2305933" y="2145845"/>
                    <a:pt x="2297493" y="2154285"/>
                  </a:cubicBezTo>
                  <a:cubicBezTo>
                    <a:pt x="2289053" y="2162725"/>
                    <a:pt x="2277607" y="2167467"/>
                    <a:pt x="2265671" y="2167467"/>
                  </a:cubicBezTo>
                  <a:lnTo>
                    <a:pt x="45004" y="2167467"/>
                  </a:lnTo>
                  <a:cubicBezTo>
                    <a:pt x="33068" y="2167467"/>
                    <a:pt x="21621" y="2162725"/>
                    <a:pt x="13181" y="2154285"/>
                  </a:cubicBezTo>
                  <a:cubicBezTo>
                    <a:pt x="4742" y="2145845"/>
                    <a:pt x="0" y="2134398"/>
                    <a:pt x="0" y="2122463"/>
                  </a:cubicBezTo>
                  <a:lnTo>
                    <a:pt x="0" y="45004"/>
                  </a:lnTo>
                  <a:cubicBezTo>
                    <a:pt x="0" y="33068"/>
                    <a:pt x="4742" y="21621"/>
                    <a:pt x="13181" y="13181"/>
                  </a:cubicBezTo>
                  <a:cubicBezTo>
                    <a:pt x="21621" y="4742"/>
                    <a:pt x="33068" y="0"/>
                    <a:pt x="45004" y="0"/>
                  </a:cubicBezTo>
                  <a:close/>
                </a:path>
              </a:pathLst>
            </a:custGeom>
            <a:solidFill>
              <a:srgbClr val="FFFFFF"/>
            </a:solidFill>
          </p:spPr>
        </p:sp>
        <p:sp>
          <p:nvSpPr>
            <p:cNvPr name="TextBox 6" id="6"/>
            <p:cNvSpPr txBox="true"/>
            <p:nvPr/>
          </p:nvSpPr>
          <p:spPr>
            <a:xfrm>
              <a:off x="0" y="-38100"/>
              <a:ext cx="2310675"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7" id="7"/>
          <p:cNvSpPr/>
          <p:nvPr/>
        </p:nvSpPr>
        <p:spPr>
          <a:xfrm flipH="false" flipV="false" rot="0">
            <a:off x="7867428" y="1194776"/>
            <a:ext cx="2553144" cy="1377421"/>
          </a:xfrm>
          <a:custGeom>
            <a:avLst/>
            <a:gdLst/>
            <a:ahLst/>
            <a:cxnLst/>
            <a:rect r="r" b="b" t="t" l="l"/>
            <a:pathLst>
              <a:path h="1377421" w="2553144">
                <a:moveTo>
                  <a:pt x="0" y="0"/>
                </a:moveTo>
                <a:lnTo>
                  <a:pt x="2553144" y="0"/>
                </a:lnTo>
                <a:lnTo>
                  <a:pt x="2553144" y="1377421"/>
                </a:lnTo>
                <a:lnTo>
                  <a:pt x="0" y="1377421"/>
                </a:lnTo>
                <a:lnTo>
                  <a:pt x="0" y="0"/>
                </a:lnTo>
                <a:close/>
              </a:path>
            </a:pathLst>
          </a:custGeom>
          <a:blipFill>
            <a:blip r:embed="rId4"/>
            <a:stretch>
              <a:fillRect l="0" t="0" r="0" b="0"/>
            </a:stretch>
          </a:blipFill>
        </p:spPr>
      </p:sp>
      <p:sp>
        <p:nvSpPr>
          <p:cNvPr name="TextBox 8" id="8"/>
          <p:cNvSpPr txBox="true"/>
          <p:nvPr/>
        </p:nvSpPr>
        <p:spPr>
          <a:xfrm rot="0">
            <a:off x="5065936" y="3009291"/>
            <a:ext cx="8156129" cy="2493651"/>
          </a:xfrm>
          <a:prstGeom prst="rect">
            <a:avLst/>
          </a:prstGeom>
        </p:spPr>
        <p:txBody>
          <a:bodyPr anchor="t" rtlCol="false" tIns="0" lIns="0" bIns="0" rIns="0">
            <a:spAutoFit/>
          </a:bodyPr>
          <a:lstStyle/>
          <a:p>
            <a:pPr algn="ctr">
              <a:lnSpc>
                <a:spcPts val="9710"/>
              </a:lnSpc>
            </a:pPr>
            <a:r>
              <a:rPr lang="en-US" sz="8991">
                <a:solidFill>
                  <a:srgbClr val="000000"/>
                </a:solidFill>
                <a:latin typeface="Alice"/>
                <a:ea typeface="Alice"/>
                <a:cs typeface="Alice"/>
                <a:sym typeface="Alice"/>
              </a:rPr>
              <a:t>Emotional</a:t>
            </a:r>
          </a:p>
          <a:p>
            <a:pPr algn="ctr">
              <a:lnSpc>
                <a:spcPts val="9710"/>
              </a:lnSpc>
            </a:pPr>
            <a:r>
              <a:rPr lang="en-US" sz="8991">
                <a:solidFill>
                  <a:srgbClr val="000000"/>
                </a:solidFill>
                <a:latin typeface="Alice"/>
                <a:ea typeface="Alice"/>
                <a:cs typeface="Alice"/>
                <a:sym typeface="Alice"/>
              </a:rPr>
              <a:t>well-being</a:t>
            </a:r>
          </a:p>
        </p:txBody>
      </p:sp>
      <p:sp>
        <p:nvSpPr>
          <p:cNvPr name="TextBox 9" id="9"/>
          <p:cNvSpPr txBox="true"/>
          <p:nvPr/>
        </p:nvSpPr>
        <p:spPr>
          <a:xfrm rot="0">
            <a:off x="5626548" y="5761092"/>
            <a:ext cx="7034904" cy="1236345"/>
          </a:xfrm>
          <a:prstGeom prst="rect">
            <a:avLst/>
          </a:prstGeom>
        </p:spPr>
        <p:txBody>
          <a:bodyPr anchor="t" rtlCol="false" tIns="0" lIns="0" bIns="0" rIns="0">
            <a:spAutoFit/>
          </a:bodyPr>
          <a:lstStyle/>
          <a:p>
            <a:pPr algn="ctr">
              <a:lnSpc>
                <a:spcPts val="3240"/>
              </a:lnSpc>
            </a:pPr>
            <a:r>
              <a:rPr lang="en-US" sz="3000">
                <a:solidFill>
                  <a:srgbClr val="000000"/>
                </a:solidFill>
                <a:latin typeface="Montserrat Light"/>
                <a:ea typeface="Montserrat Light"/>
                <a:cs typeface="Montserrat Light"/>
                <a:sym typeface="Montserrat Light"/>
              </a:rPr>
              <a:t>Sleeping, eating and technology habits and their correlation to emotional well-being.</a:t>
            </a:r>
          </a:p>
        </p:txBody>
      </p:sp>
      <p:sp>
        <p:nvSpPr>
          <p:cNvPr name="TextBox 10" id="10"/>
          <p:cNvSpPr txBox="true"/>
          <p:nvPr/>
        </p:nvSpPr>
        <p:spPr>
          <a:xfrm rot="0">
            <a:off x="6832445" y="8634063"/>
            <a:ext cx="4623111" cy="275590"/>
          </a:xfrm>
          <a:prstGeom prst="rect">
            <a:avLst/>
          </a:prstGeom>
        </p:spPr>
        <p:txBody>
          <a:bodyPr anchor="t" rtlCol="false" tIns="0" lIns="0" bIns="0" rIns="0">
            <a:spAutoFit/>
          </a:bodyPr>
          <a:lstStyle/>
          <a:p>
            <a:pPr algn="ctr">
              <a:lnSpc>
                <a:spcPts val="2179"/>
              </a:lnSpc>
            </a:pPr>
            <a:r>
              <a:rPr lang="en-US" sz="1999">
                <a:solidFill>
                  <a:srgbClr val="000000"/>
                </a:solidFill>
                <a:latin typeface="Montserrat"/>
                <a:ea typeface="Montserrat"/>
                <a:cs typeface="Montserrat"/>
                <a:sym typeface="Montserrat"/>
              </a:rPr>
              <a:t>Tuesday, july 14th,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6EEFD"/>
        </a:solidFill>
      </p:bgPr>
    </p:bg>
    <p:spTree>
      <p:nvGrpSpPr>
        <p:cNvPr id="1" name=""/>
        <p:cNvGrpSpPr/>
        <p:nvPr/>
      </p:nvGrpSpPr>
      <p:grpSpPr>
        <a:xfrm>
          <a:off x="0" y="0"/>
          <a:ext cx="0" cy="0"/>
          <a:chOff x="0" y="0"/>
          <a:chExt cx="0" cy="0"/>
        </a:xfrm>
      </p:grpSpPr>
      <p:grpSp>
        <p:nvGrpSpPr>
          <p:cNvPr name="Group 2" id="2"/>
          <p:cNvGrpSpPr/>
          <p:nvPr/>
        </p:nvGrpSpPr>
        <p:grpSpPr>
          <a:xfrm rot="0">
            <a:off x="4317113" y="1028700"/>
            <a:ext cx="12942187" cy="8229600"/>
            <a:chOff x="0" y="0"/>
            <a:chExt cx="3408642" cy="2167467"/>
          </a:xfrm>
        </p:grpSpPr>
        <p:sp>
          <p:nvSpPr>
            <p:cNvPr name="Freeform 3" id="3"/>
            <p:cNvSpPr/>
            <p:nvPr/>
          </p:nvSpPr>
          <p:spPr>
            <a:xfrm flipH="false" flipV="false" rot="0">
              <a:off x="0" y="0"/>
              <a:ext cx="3408642" cy="2167467"/>
            </a:xfrm>
            <a:custGeom>
              <a:avLst/>
              <a:gdLst/>
              <a:ahLst/>
              <a:cxnLst/>
              <a:rect r="r" b="b" t="t" l="l"/>
              <a:pathLst>
                <a:path h="2167467" w="3408642">
                  <a:moveTo>
                    <a:pt x="30508" y="0"/>
                  </a:moveTo>
                  <a:lnTo>
                    <a:pt x="3378134" y="0"/>
                  </a:lnTo>
                  <a:cubicBezTo>
                    <a:pt x="3394983" y="0"/>
                    <a:pt x="3408642" y="13659"/>
                    <a:pt x="3408642" y="30508"/>
                  </a:cubicBezTo>
                  <a:lnTo>
                    <a:pt x="3408642" y="2136959"/>
                  </a:lnTo>
                  <a:cubicBezTo>
                    <a:pt x="3408642" y="2145050"/>
                    <a:pt x="3405428" y="2152810"/>
                    <a:pt x="3399706" y="2158531"/>
                  </a:cubicBezTo>
                  <a:cubicBezTo>
                    <a:pt x="3393985" y="2164253"/>
                    <a:pt x="3386225" y="2167467"/>
                    <a:pt x="3378134" y="2167467"/>
                  </a:cubicBezTo>
                  <a:lnTo>
                    <a:pt x="30508" y="2167467"/>
                  </a:lnTo>
                  <a:cubicBezTo>
                    <a:pt x="22417" y="2167467"/>
                    <a:pt x="14657" y="2164253"/>
                    <a:pt x="8936" y="2158531"/>
                  </a:cubicBezTo>
                  <a:cubicBezTo>
                    <a:pt x="3214" y="2152810"/>
                    <a:pt x="0" y="2145050"/>
                    <a:pt x="0" y="2136959"/>
                  </a:cubicBezTo>
                  <a:lnTo>
                    <a:pt x="0" y="30508"/>
                  </a:lnTo>
                  <a:cubicBezTo>
                    <a:pt x="0" y="22417"/>
                    <a:pt x="3214" y="14657"/>
                    <a:pt x="8936" y="8936"/>
                  </a:cubicBezTo>
                  <a:cubicBezTo>
                    <a:pt x="14657" y="3214"/>
                    <a:pt x="22417" y="0"/>
                    <a:pt x="30508" y="0"/>
                  </a:cubicBezTo>
                  <a:close/>
                </a:path>
              </a:pathLst>
            </a:custGeom>
            <a:solidFill>
              <a:srgbClr val="FFFFFF"/>
            </a:solidFill>
          </p:spPr>
        </p:sp>
        <p:sp>
          <p:nvSpPr>
            <p:cNvPr name="TextBox 4" id="4"/>
            <p:cNvSpPr txBox="true"/>
            <p:nvPr/>
          </p:nvSpPr>
          <p:spPr>
            <a:xfrm>
              <a:off x="0" y="-38100"/>
              <a:ext cx="3408642" cy="2205567"/>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268379" y="-1213737"/>
            <a:ext cx="4763592" cy="6476536"/>
            <a:chOff x="0" y="0"/>
            <a:chExt cx="1254609" cy="1705754"/>
          </a:xfrm>
        </p:grpSpPr>
        <p:sp>
          <p:nvSpPr>
            <p:cNvPr name="Freeform 6" id="6"/>
            <p:cNvSpPr/>
            <p:nvPr/>
          </p:nvSpPr>
          <p:spPr>
            <a:xfrm flipH="false" flipV="false" rot="0">
              <a:off x="0" y="0"/>
              <a:ext cx="1254609" cy="1705754"/>
            </a:xfrm>
            <a:custGeom>
              <a:avLst/>
              <a:gdLst/>
              <a:ahLst/>
              <a:cxnLst/>
              <a:rect r="r" b="b" t="t" l="l"/>
              <a:pathLst>
                <a:path h="1705754" w="1254609">
                  <a:moveTo>
                    <a:pt x="82887" y="0"/>
                  </a:moveTo>
                  <a:lnTo>
                    <a:pt x="1171722" y="0"/>
                  </a:lnTo>
                  <a:cubicBezTo>
                    <a:pt x="1217499" y="0"/>
                    <a:pt x="1254609" y="37110"/>
                    <a:pt x="1254609" y="82887"/>
                  </a:cubicBezTo>
                  <a:lnTo>
                    <a:pt x="1254609" y="1622868"/>
                  </a:lnTo>
                  <a:cubicBezTo>
                    <a:pt x="1254609" y="1668645"/>
                    <a:pt x="1217499" y="1705754"/>
                    <a:pt x="1171722" y="1705754"/>
                  </a:cubicBezTo>
                  <a:lnTo>
                    <a:pt x="82887" y="1705754"/>
                  </a:lnTo>
                  <a:cubicBezTo>
                    <a:pt x="37110" y="1705754"/>
                    <a:pt x="0" y="1668645"/>
                    <a:pt x="0" y="1622868"/>
                  </a:cubicBezTo>
                  <a:lnTo>
                    <a:pt x="0" y="82887"/>
                  </a:lnTo>
                  <a:cubicBezTo>
                    <a:pt x="0" y="37110"/>
                    <a:pt x="37110" y="0"/>
                    <a:pt x="82887" y="0"/>
                  </a:cubicBezTo>
                  <a:close/>
                </a:path>
              </a:pathLst>
            </a:custGeom>
            <a:solidFill>
              <a:srgbClr val="FFFFFF"/>
            </a:solidFill>
          </p:spPr>
        </p:sp>
        <p:sp>
          <p:nvSpPr>
            <p:cNvPr name="TextBox 7" id="7"/>
            <p:cNvSpPr txBox="true"/>
            <p:nvPr/>
          </p:nvSpPr>
          <p:spPr>
            <a:xfrm>
              <a:off x="0" y="-38100"/>
              <a:ext cx="1254609" cy="1743854"/>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268379" y="6020032"/>
            <a:ext cx="4763592" cy="6476536"/>
            <a:chOff x="0" y="0"/>
            <a:chExt cx="1254609" cy="1705754"/>
          </a:xfrm>
        </p:grpSpPr>
        <p:sp>
          <p:nvSpPr>
            <p:cNvPr name="Freeform 9" id="9"/>
            <p:cNvSpPr/>
            <p:nvPr/>
          </p:nvSpPr>
          <p:spPr>
            <a:xfrm flipH="false" flipV="false" rot="0">
              <a:off x="0" y="0"/>
              <a:ext cx="1254609" cy="1705754"/>
            </a:xfrm>
            <a:custGeom>
              <a:avLst/>
              <a:gdLst/>
              <a:ahLst/>
              <a:cxnLst/>
              <a:rect r="r" b="b" t="t" l="l"/>
              <a:pathLst>
                <a:path h="1705754" w="1254609">
                  <a:moveTo>
                    <a:pt x="82887" y="0"/>
                  </a:moveTo>
                  <a:lnTo>
                    <a:pt x="1171722" y="0"/>
                  </a:lnTo>
                  <a:cubicBezTo>
                    <a:pt x="1217499" y="0"/>
                    <a:pt x="1254609" y="37110"/>
                    <a:pt x="1254609" y="82887"/>
                  </a:cubicBezTo>
                  <a:lnTo>
                    <a:pt x="1254609" y="1622868"/>
                  </a:lnTo>
                  <a:cubicBezTo>
                    <a:pt x="1254609" y="1668645"/>
                    <a:pt x="1217499" y="1705754"/>
                    <a:pt x="1171722" y="1705754"/>
                  </a:cubicBezTo>
                  <a:lnTo>
                    <a:pt x="82887" y="1705754"/>
                  </a:lnTo>
                  <a:cubicBezTo>
                    <a:pt x="37110" y="1705754"/>
                    <a:pt x="0" y="1668645"/>
                    <a:pt x="0" y="1622868"/>
                  </a:cubicBezTo>
                  <a:lnTo>
                    <a:pt x="0" y="82887"/>
                  </a:lnTo>
                  <a:cubicBezTo>
                    <a:pt x="0" y="37110"/>
                    <a:pt x="37110" y="0"/>
                    <a:pt x="82887" y="0"/>
                  </a:cubicBezTo>
                  <a:close/>
                </a:path>
              </a:pathLst>
            </a:custGeom>
            <a:solidFill>
              <a:srgbClr val="FFFFFF"/>
            </a:solidFill>
          </p:spPr>
        </p:sp>
        <p:sp>
          <p:nvSpPr>
            <p:cNvPr name="TextBox 10" id="10"/>
            <p:cNvSpPr txBox="true"/>
            <p:nvPr/>
          </p:nvSpPr>
          <p:spPr>
            <a:xfrm>
              <a:off x="0" y="-38100"/>
              <a:ext cx="1254609" cy="1743854"/>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526577" y="1721824"/>
            <a:ext cx="5662873" cy="6843352"/>
          </a:xfrm>
          <a:custGeom>
            <a:avLst/>
            <a:gdLst/>
            <a:ahLst/>
            <a:cxnLst/>
            <a:rect r="r" b="b" t="t" l="l"/>
            <a:pathLst>
              <a:path h="6843352" w="5662873">
                <a:moveTo>
                  <a:pt x="0" y="0"/>
                </a:moveTo>
                <a:lnTo>
                  <a:pt x="5662873" y="0"/>
                </a:lnTo>
                <a:lnTo>
                  <a:pt x="5662873" y="6843352"/>
                </a:lnTo>
                <a:lnTo>
                  <a:pt x="0" y="6843352"/>
                </a:lnTo>
                <a:lnTo>
                  <a:pt x="0" y="0"/>
                </a:lnTo>
                <a:close/>
              </a:path>
            </a:pathLst>
          </a:custGeom>
          <a:blipFill>
            <a:blip r:embed="rId2"/>
            <a:stretch>
              <a:fillRect l="0" t="0" r="0" b="0"/>
            </a:stretch>
          </a:blipFill>
        </p:spPr>
      </p:sp>
      <p:sp>
        <p:nvSpPr>
          <p:cNvPr name="TextBox 12" id="12"/>
          <p:cNvSpPr txBox="true"/>
          <p:nvPr/>
        </p:nvSpPr>
        <p:spPr>
          <a:xfrm rot="0">
            <a:off x="6805719" y="2119781"/>
            <a:ext cx="7883814" cy="508635"/>
          </a:xfrm>
          <a:prstGeom prst="rect">
            <a:avLst/>
          </a:prstGeom>
        </p:spPr>
        <p:txBody>
          <a:bodyPr anchor="t" rtlCol="false" tIns="0" lIns="0" bIns="0" rIns="0">
            <a:spAutoFit/>
          </a:bodyPr>
          <a:lstStyle/>
          <a:p>
            <a:pPr algn="l" marL="0" indent="0" lvl="0">
              <a:lnSpc>
                <a:spcPts val="3719"/>
              </a:lnSpc>
              <a:spcBef>
                <a:spcPct val="0"/>
              </a:spcBef>
            </a:pPr>
            <a:r>
              <a:rPr lang="en-US" sz="3999">
                <a:solidFill>
                  <a:srgbClr val="000000"/>
                </a:solidFill>
                <a:latin typeface="Alice"/>
                <a:ea typeface="Alice"/>
                <a:cs typeface="Alice"/>
                <a:sym typeface="Alice"/>
              </a:rPr>
              <a:t>Background</a:t>
            </a:r>
          </a:p>
        </p:txBody>
      </p:sp>
      <p:sp>
        <p:nvSpPr>
          <p:cNvPr name="TextBox 13" id="13"/>
          <p:cNvSpPr txBox="true"/>
          <p:nvPr/>
        </p:nvSpPr>
        <p:spPr>
          <a:xfrm rot="0">
            <a:off x="6593544" y="3110265"/>
            <a:ext cx="5921139" cy="989965"/>
          </a:xfrm>
          <a:prstGeom prst="rect">
            <a:avLst/>
          </a:prstGeom>
        </p:spPr>
        <p:txBody>
          <a:bodyPr anchor="t" rtlCol="false" tIns="0" lIns="0" bIns="0" rIns="0">
            <a:spAutoFit/>
          </a:bodyPr>
          <a:lstStyle/>
          <a:p>
            <a:pPr algn="just">
              <a:lnSpc>
                <a:spcPts val="2659"/>
              </a:lnSpc>
              <a:spcBef>
                <a:spcPct val="0"/>
              </a:spcBef>
            </a:pPr>
            <a:r>
              <a:rPr lang="en-US" sz="1899">
                <a:solidFill>
                  <a:srgbClr val="000000"/>
                </a:solidFill>
                <a:latin typeface="Open Sans"/>
                <a:ea typeface="Open Sans"/>
                <a:cs typeface="Open Sans"/>
                <a:sym typeface="Open Sans"/>
              </a:rPr>
              <a:t>In academic environments, sl</a:t>
            </a:r>
            <a:r>
              <a:rPr lang="en-US" sz="1899">
                <a:solidFill>
                  <a:srgbClr val="000000"/>
                </a:solidFill>
                <a:latin typeface="Open Sans"/>
                <a:ea typeface="Open Sans"/>
                <a:cs typeface="Open Sans"/>
                <a:sym typeface="Open Sans"/>
              </a:rPr>
              <a:t>eep habits, eating patterns, and technological device usage are heavily linked to students' psychological states.</a:t>
            </a:r>
          </a:p>
        </p:txBody>
      </p:sp>
      <p:sp>
        <p:nvSpPr>
          <p:cNvPr name="TextBox 14" id="14"/>
          <p:cNvSpPr txBox="true"/>
          <p:nvPr/>
        </p:nvSpPr>
        <p:spPr>
          <a:xfrm rot="0">
            <a:off x="11683913" y="4462780"/>
            <a:ext cx="5053152" cy="1323340"/>
          </a:xfrm>
          <a:prstGeom prst="rect">
            <a:avLst/>
          </a:prstGeom>
        </p:spPr>
        <p:txBody>
          <a:bodyPr anchor="t" rtlCol="false" tIns="0" lIns="0" bIns="0" rIns="0">
            <a:spAutoFit/>
          </a:bodyPr>
          <a:lstStyle/>
          <a:p>
            <a:pPr algn="just">
              <a:lnSpc>
                <a:spcPts val="2659"/>
              </a:lnSpc>
              <a:spcBef>
                <a:spcPct val="0"/>
              </a:spcBef>
            </a:pPr>
            <a:r>
              <a:rPr lang="en-US" sz="1899">
                <a:solidFill>
                  <a:srgbClr val="000000"/>
                </a:solidFill>
                <a:latin typeface="Open Sans"/>
                <a:ea typeface="Open Sans"/>
                <a:cs typeface="Open Sans"/>
                <a:sym typeface="Open Sans"/>
              </a:rPr>
              <a:t>They contribut</a:t>
            </a:r>
            <a:r>
              <a:rPr lang="en-US" sz="1899">
                <a:solidFill>
                  <a:srgbClr val="000000"/>
                </a:solidFill>
                <a:latin typeface="Open Sans"/>
                <a:ea typeface="Open Sans"/>
                <a:cs typeface="Open Sans"/>
                <a:sym typeface="Open Sans"/>
              </a:rPr>
              <a:t>e to fatigue, anxiety, and physical discomfort, ultimately negatively affecting the emotional well-being of university students. </a:t>
            </a:r>
          </a:p>
        </p:txBody>
      </p:sp>
      <p:sp>
        <p:nvSpPr>
          <p:cNvPr name="TextBox 15" id="15"/>
          <p:cNvSpPr txBox="true"/>
          <p:nvPr/>
        </p:nvSpPr>
        <p:spPr>
          <a:xfrm rot="0">
            <a:off x="6593544" y="6324519"/>
            <a:ext cx="5263096" cy="1323340"/>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Open Sans"/>
                <a:ea typeface="Open Sans"/>
                <a:cs typeface="Open Sans"/>
                <a:sym typeface="Open Sans"/>
              </a:rPr>
              <a:t>Its dedicated to the students of the UTD, for them to keep a record of their habits and with them to measure their psychological state regarding their studies.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6EEFD"/>
        </a:solidFill>
      </p:bgPr>
    </p:bg>
    <p:spTree>
      <p:nvGrpSpPr>
        <p:cNvPr id="1" name=""/>
        <p:cNvGrpSpPr/>
        <p:nvPr/>
      </p:nvGrpSpPr>
      <p:grpSpPr>
        <a:xfrm>
          <a:off x="0" y="0"/>
          <a:ext cx="0" cy="0"/>
          <a:chOff x="0" y="0"/>
          <a:chExt cx="0" cy="0"/>
        </a:xfrm>
      </p:grpSpPr>
      <p:grpSp>
        <p:nvGrpSpPr>
          <p:cNvPr name="Group 2" id="2"/>
          <p:cNvGrpSpPr/>
          <p:nvPr/>
        </p:nvGrpSpPr>
        <p:grpSpPr>
          <a:xfrm rot="0">
            <a:off x="7225018" y="1256041"/>
            <a:ext cx="8647505" cy="7774918"/>
            <a:chOff x="0" y="0"/>
            <a:chExt cx="2277532" cy="2047715"/>
          </a:xfrm>
        </p:grpSpPr>
        <p:sp>
          <p:nvSpPr>
            <p:cNvPr name="Freeform 3" id="3"/>
            <p:cNvSpPr/>
            <p:nvPr/>
          </p:nvSpPr>
          <p:spPr>
            <a:xfrm flipH="false" flipV="false" rot="0">
              <a:off x="0" y="0"/>
              <a:ext cx="2277532" cy="2047715"/>
            </a:xfrm>
            <a:custGeom>
              <a:avLst/>
              <a:gdLst/>
              <a:ahLst/>
              <a:cxnLst/>
              <a:rect r="r" b="b" t="t" l="l"/>
              <a:pathLst>
                <a:path h="2047715" w="2277532">
                  <a:moveTo>
                    <a:pt x="45659" y="0"/>
                  </a:moveTo>
                  <a:lnTo>
                    <a:pt x="2231873" y="0"/>
                  </a:lnTo>
                  <a:cubicBezTo>
                    <a:pt x="2257090" y="0"/>
                    <a:pt x="2277532" y="20442"/>
                    <a:pt x="2277532" y="45659"/>
                  </a:cubicBezTo>
                  <a:lnTo>
                    <a:pt x="2277532" y="2002056"/>
                  </a:lnTo>
                  <a:cubicBezTo>
                    <a:pt x="2277532" y="2014165"/>
                    <a:pt x="2272722" y="2025779"/>
                    <a:pt x="2264159" y="2034342"/>
                  </a:cubicBezTo>
                  <a:cubicBezTo>
                    <a:pt x="2255596" y="2042904"/>
                    <a:pt x="2243983" y="2047715"/>
                    <a:pt x="2231873" y="2047715"/>
                  </a:cubicBezTo>
                  <a:lnTo>
                    <a:pt x="45659" y="2047715"/>
                  </a:lnTo>
                  <a:cubicBezTo>
                    <a:pt x="33550" y="2047715"/>
                    <a:pt x="21936" y="2042904"/>
                    <a:pt x="13373" y="2034342"/>
                  </a:cubicBezTo>
                  <a:cubicBezTo>
                    <a:pt x="4811" y="2025779"/>
                    <a:pt x="0" y="2014165"/>
                    <a:pt x="0" y="2002056"/>
                  </a:cubicBezTo>
                  <a:lnTo>
                    <a:pt x="0" y="45659"/>
                  </a:lnTo>
                  <a:cubicBezTo>
                    <a:pt x="0" y="33550"/>
                    <a:pt x="4811" y="21936"/>
                    <a:pt x="13373" y="13373"/>
                  </a:cubicBezTo>
                  <a:cubicBezTo>
                    <a:pt x="21936" y="4811"/>
                    <a:pt x="33550" y="0"/>
                    <a:pt x="45659" y="0"/>
                  </a:cubicBezTo>
                  <a:close/>
                </a:path>
              </a:pathLst>
            </a:custGeom>
            <a:solidFill>
              <a:srgbClr val="FFFFFF"/>
            </a:solidFill>
          </p:spPr>
        </p:sp>
        <p:sp>
          <p:nvSpPr>
            <p:cNvPr name="TextBox 4" id="4"/>
            <p:cNvSpPr txBox="true"/>
            <p:nvPr/>
          </p:nvSpPr>
          <p:spPr>
            <a:xfrm>
              <a:off x="0" y="-38100"/>
              <a:ext cx="2277532" cy="208581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6491648" y="3988482"/>
            <a:ext cx="8647505" cy="7774918"/>
            <a:chOff x="0" y="0"/>
            <a:chExt cx="2277532" cy="2047715"/>
          </a:xfrm>
        </p:grpSpPr>
        <p:sp>
          <p:nvSpPr>
            <p:cNvPr name="Freeform 6" id="6"/>
            <p:cNvSpPr/>
            <p:nvPr/>
          </p:nvSpPr>
          <p:spPr>
            <a:xfrm flipH="false" flipV="false" rot="0">
              <a:off x="0" y="0"/>
              <a:ext cx="2277532" cy="2047715"/>
            </a:xfrm>
            <a:custGeom>
              <a:avLst/>
              <a:gdLst/>
              <a:ahLst/>
              <a:cxnLst/>
              <a:rect r="r" b="b" t="t" l="l"/>
              <a:pathLst>
                <a:path h="2047715" w="2277532">
                  <a:moveTo>
                    <a:pt x="45659" y="0"/>
                  </a:moveTo>
                  <a:lnTo>
                    <a:pt x="2231873" y="0"/>
                  </a:lnTo>
                  <a:cubicBezTo>
                    <a:pt x="2257090" y="0"/>
                    <a:pt x="2277532" y="20442"/>
                    <a:pt x="2277532" y="45659"/>
                  </a:cubicBezTo>
                  <a:lnTo>
                    <a:pt x="2277532" y="2002056"/>
                  </a:lnTo>
                  <a:cubicBezTo>
                    <a:pt x="2277532" y="2014165"/>
                    <a:pt x="2272722" y="2025779"/>
                    <a:pt x="2264159" y="2034342"/>
                  </a:cubicBezTo>
                  <a:cubicBezTo>
                    <a:pt x="2255596" y="2042904"/>
                    <a:pt x="2243983" y="2047715"/>
                    <a:pt x="2231873" y="2047715"/>
                  </a:cubicBezTo>
                  <a:lnTo>
                    <a:pt x="45659" y="2047715"/>
                  </a:lnTo>
                  <a:cubicBezTo>
                    <a:pt x="33550" y="2047715"/>
                    <a:pt x="21936" y="2042904"/>
                    <a:pt x="13373" y="2034342"/>
                  </a:cubicBezTo>
                  <a:cubicBezTo>
                    <a:pt x="4811" y="2025779"/>
                    <a:pt x="0" y="2014165"/>
                    <a:pt x="0" y="2002056"/>
                  </a:cubicBezTo>
                  <a:lnTo>
                    <a:pt x="0" y="45659"/>
                  </a:lnTo>
                  <a:cubicBezTo>
                    <a:pt x="0" y="33550"/>
                    <a:pt x="4811" y="21936"/>
                    <a:pt x="13373" y="13373"/>
                  </a:cubicBezTo>
                  <a:cubicBezTo>
                    <a:pt x="21936" y="4811"/>
                    <a:pt x="33550" y="0"/>
                    <a:pt x="45659" y="0"/>
                  </a:cubicBezTo>
                  <a:close/>
                </a:path>
              </a:pathLst>
            </a:custGeom>
            <a:solidFill>
              <a:srgbClr val="FFFFFF"/>
            </a:solidFill>
          </p:spPr>
        </p:sp>
        <p:sp>
          <p:nvSpPr>
            <p:cNvPr name="TextBox 7" id="7"/>
            <p:cNvSpPr txBox="true"/>
            <p:nvPr/>
          </p:nvSpPr>
          <p:spPr>
            <a:xfrm>
              <a:off x="0" y="-38100"/>
              <a:ext cx="2277532" cy="2085815"/>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153663" y="-1476399"/>
            <a:ext cx="7754823" cy="7774918"/>
            <a:chOff x="0" y="0"/>
            <a:chExt cx="2042422" cy="2047715"/>
          </a:xfrm>
        </p:grpSpPr>
        <p:sp>
          <p:nvSpPr>
            <p:cNvPr name="Freeform 9" id="9"/>
            <p:cNvSpPr/>
            <p:nvPr/>
          </p:nvSpPr>
          <p:spPr>
            <a:xfrm flipH="false" flipV="false" rot="0">
              <a:off x="0" y="0"/>
              <a:ext cx="2042422" cy="2047715"/>
            </a:xfrm>
            <a:custGeom>
              <a:avLst/>
              <a:gdLst/>
              <a:ahLst/>
              <a:cxnLst/>
              <a:rect r="r" b="b" t="t" l="l"/>
              <a:pathLst>
                <a:path h="2047715" w="2042422">
                  <a:moveTo>
                    <a:pt x="50915" y="0"/>
                  </a:moveTo>
                  <a:lnTo>
                    <a:pt x="1991507" y="0"/>
                  </a:lnTo>
                  <a:cubicBezTo>
                    <a:pt x="2005011" y="0"/>
                    <a:pt x="2017961" y="5364"/>
                    <a:pt x="2027510" y="14913"/>
                  </a:cubicBezTo>
                  <a:cubicBezTo>
                    <a:pt x="2037058" y="24461"/>
                    <a:pt x="2042422" y="37412"/>
                    <a:pt x="2042422" y="50915"/>
                  </a:cubicBezTo>
                  <a:lnTo>
                    <a:pt x="2042422" y="1996800"/>
                  </a:lnTo>
                  <a:cubicBezTo>
                    <a:pt x="2042422" y="2010303"/>
                    <a:pt x="2037058" y="2023254"/>
                    <a:pt x="2027510" y="2032802"/>
                  </a:cubicBezTo>
                  <a:cubicBezTo>
                    <a:pt x="2017961" y="2042351"/>
                    <a:pt x="2005011" y="2047715"/>
                    <a:pt x="1991507" y="2047715"/>
                  </a:cubicBezTo>
                  <a:lnTo>
                    <a:pt x="50915" y="2047715"/>
                  </a:lnTo>
                  <a:cubicBezTo>
                    <a:pt x="37412" y="2047715"/>
                    <a:pt x="24461" y="2042351"/>
                    <a:pt x="14913" y="2032802"/>
                  </a:cubicBezTo>
                  <a:cubicBezTo>
                    <a:pt x="5364" y="2023254"/>
                    <a:pt x="0" y="2010303"/>
                    <a:pt x="0" y="1996800"/>
                  </a:cubicBezTo>
                  <a:lnTo>
                    <a:pt x="0" y="50915"/>
                  </a:lnTo>
                  <a:cubicBezTo>
                    <a:pt x="0" y="37412"/>
                    <a:pt x="5364" y="24461"/>
                    <a:pt x="14913" y="14913"/>
                  </a:cubicBezTo>
                  <a:cubicBezTo>
                    <a:pt x="24461" y="5364"/>
                    <a:pt x="37412" y="0"/>
                    <a:pt x="50915" y="0"/>
                  </a:cubicBezTo>
                  <a:close/>
                </a:path>
              </a:pathLst>
            </a:custGeom>
            <a:solidFill>
              <a:srgbClr val="FFFFFF"/>
            </a:solidFill>
          </p:spPr>
        </p:sp>
        <p:sp>
          <p:nvSpPr>
            <p:cNvPr name="TextBox 10" id="10"/>
            <p:cNvSpPr txBox="true"/>
            <p:nvPr/>
          </p:nvSpPr>
          <p:spPr>
            <a:xfrm>
              <a:off x="0" y="-38100"/>
              <a:ext cx="2042422" cy="2085815"/>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2415477" y="1028700"/>
            <a:ext cx="5668137" cy="8229600"/>
          </a:xfrm>
          <a:custGeom>
            <a:avLst/>
            <a:gdLst/>
            <a:ahLst/>
            <a:cxnLst/>
            <a:rect r="r" b="b" t="t" l="l"/>
            <a:pathLst>
              <a:path h="8229600" w="5668137">
                <a:moveTo>
                  <a:pt x="0" y="0"/>
                </a:moveTo>
                <a:lnTo>
                  <a:pt x="5668137" y="0"/>
                </a:lnTo>
                <a:lnTo>
                  <a:pt x="5668137" y="8229600"/>
                </a:lnTo>
                <a:lnTo>
                  <a:pt x="0" y="8229600"/>
                </a:lnTo>
                <a:lnTo>
                  <a:pt x="0" y="0"/>
                </a:lnTo>
                <a:close/>
              </a:path>
            </a:pathLst>
          </a:custGeom>
          <a:blipFill>
            <a:blip r:embed="rId2"/>
            <a:stretch>
              <a:fillRect l="0" t="0" r="0" b="0"/>
            </a:stretch>
          </a:blipFill>
        </p:spPr>
      </p:sp>
      <p:sp>
        <p:nvSpPr>
          <p:cNvPr name="TextBox 12" id="12"/>
          <p:cNvSpPr txBox="true"/>
          <p:nvPr/>
        </p:nvSpPr>
        <p:spPr>
          <a:xfrm rot="0">
            <a:off x="8715260" y="2924796"/>
            <a:ext cx="6332054" cy="5610225"/>
          </a:xfrm>
          <a:prstGeom prst="rect">
            <a:avLst/>
          </a:prstGeom>
        </p:spPr>
        <p:txBody>
          <a:bodyPr anchor="t" rtlCol="false" tIns="0" lIns="0" bIns="0" rIns="0">
            <a:spAutoFit/>
          </a:bodyPr>
          <a:lstStyle/>
          <a:p>
            <a:pPr algn="l">
              <a:lnSpc>
                <a:spcPts val="4079"/>
              </a:lnSpc>
            </a:pPr>
            <a:r>
              <a:rPr lang="en-US" sz="2400">
                <a:solidFill>
                  <a:srgbClr val="000000"/>
                </a:solidFill>
                <a:latin typeface="Montserrat"/>
                <a:ea typeface="Montserrat"/>
                <a:cs typeface="Montserrat"/>
                <a:sym typeface="Montserrat"/>
              </a:rPr>
              <a:t>On the everyday life of a college student, their  emotional well-being is one of the key factors of health and productivity at the time of performing tasks, however, students often suffer from disconformity caused by some sleeping, eating and use of technology habits affecting their emotinal well-being.</a:t>
            </a:r>
          </a:p>
          <a:p>
            <a:pPr algn="l">
              <a:lnSpc>
                <a:spcPts val="4079"/>
              </a:lnSpc>
            </a:pPr>
            <a:r>
              <a:rPr lang="en-US" sz="2400">
                <a:solidFill>
                  <a:srgbClr val="000000"/>
                </a:solidFill>
                <a:latin typeface="Montserrat"/>
                <a:ea typeface="Montserrat"/>
                <a:cs typeface="Montserrat"/>
                <a:sym typeface="Montserrat"/>
              </a:rPr>
              <a:t>The objective of the project is to correlate between those habits and their level of emotional well-being on the UTD.</a:t>
            </a:r>
          </a:p>
        </p:txBody>
      </p:sp>
      <p:sp>
        <p:nvSpPr>
          <p:cNvPr name="TextBox 13" id="13"/>
          <p:cNvSpPr txBox="true"/>
          <p:nvPr/>
        </p:nvSpPr>
        <p:spPr>
          <a:xfrm rot="0">
            <a:off x="8715260" y="2204367"/>
            <a:ext cx="4926298" cy="508635"/>
          </a:xfrm>
          <a:prstGeom prst="rect">
            <a:avLst/>
          </a:prstGeom>
        </p:spPr>
        <p:txBody>
          <a:bodyPr anchor="t" rtlCol="false" tIns="0" lIns="0" bIns="0" rIns="0">
            <a:spAutoFit/>
          </a:bodyPr>
          <a:lstStyle/>
          <a:p>
            <a:pPr algn="l" marL="0" indent="0" lvl="0">
              <a:lnSpc>
                <a:spcPts val="3719"/>
              </a:lnSpc>
              <a:spcBef>
                <a:spcPct val="0"/>
              </a:spcBef>
            </a:pPr>
            <a:r>
              <a:rPr lang="en-US" sz="3999">
                <a:solidFill>
                  <a:srgbClr val="000000"/>
                </a:solidFill>
                <a:latin typeface="Alice"/>
                <a:ea typeface="Alice"/>
                <a:cs typeface="Alice"/>
                <a:sym typeface="Alice"/>
              </a:rPr>
              <a:t>Problem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6EEFD"/>
        </a:solidFill>
      </p:bgPr>
    </p:bg>
    <p:spTree>
      <p:nvGrpSpPr>
        <p:cNvPr id="1" name=""/>
        <p:cNvGrpSpPr/>
        <p:nvPr/>
      </p:nvGrpSpPr>
      <p:grpSpPr>
        <a:xfrm>
          <a:off x="0" y="0"/>
          <a:ext cx="0" cy="0"/>
          <a:chOff x="0" y="0"/>
          <a:chExt cx="0" cy="0"/>
        </a:xfrm>
      </p:grpSpPr>
      <p:grpSp>
        <p:nvGrpSpPr>
          <p:cNvPr name="Group 2" id="2"/>
          <p:cNvGrpSpPr/>
          <p:nvPr/>
        </p:nvGrpSpPr>
        <p:grpSpPr>
          <a:xfrm rot="0">
            <a:off x="1028700" y="768595"/>
            <a:ext cx="7757404" cy="7879304"/>
            <a:chOff x="0" y="0"/>
            <a:chExt cx="2043102" cy="2075208"/>
          </a:xfrm>
        </p:grpSpPr>
        <p:sp>
          <p:nvSpPr>
            <p:cNvPr name="Freeform 3" id="3"/>
            <p:cNvSpPr/>
            <p:nvPr/>
          </p:nvSpPr>
          <p:spPr>
            <a:xfrm flipH="false" flipV="false" rot="0">
              <a:off x="0" y="0"/>
              <a:ext cx="2043102" cy="2075208"/>
            </a:xfrm>
            <a:custGeom>
              <a:avLst/>
              <a:gdLst/>
              <a:ahLst/>
              <a:cxnLst/>
              <a:rect r="r" b="b" t="t" l="l"/>
              <a:pathLst>
                <a:path h="2075208" w="2043102">
                  <a:moveTo>
                    <a:pt x="50898" y="0"/>
                  </a:moveTo>
                  <a:lnTo>
                    <a:pt x="1992204" y="0"/>
                  </a:lnTo>
                  <a:cubicBezTo>
                    <a:pt x="2020314" y="0"/>
                    <a:pt x="2043102" y="22788"/>
                    <a:pt x="2043102" y="50898"/>
                  </a:cubicBezTo>
                  <a:lnTo>
                    <a:pt x="2043102" y="2024309"/>
                  </a:lnTo>
                  <a:cubicBezTo>
                    <a:pt x="2043102" y="2037809"/>
                    <a:pt x="2037740" y="2050755"/>
                    <a:pt x="2028194" y="2060300"/>
                  </a:cubicBezTo>
                  <a:cubicBezTo>
                    <a:pt x="2018649" y="2069845"/>
                    <a:pt x="2005703" y="2075208"/>
                    <a:pt x="1992204" y="2075208"/>
                  </a:cubicBezTo>
                  <a:lnTo>
                    <a:pt x="50898" y="2075208"/>
                  </a:lnTo>
                  <a:cubicBezTo>
                    <a:pt x="37399" y="2075208"/>
                    <a:pt x="24453" y="2069845"/>
                    <a:pt x="14908" y="2060300"/>
                  </a:cubicBezTo>
                  <a:cubicBezTo>
                    <a:pt x="5362" y="2050755"/>
                    <a:pt x="0" y="2037809"/>
                    <a:pt x="0" y="2024309"/>
                  </a:cubicBezTo>
                  <a:lnTo>
                    <a:pt x="0" y="50898"/>
                  </a:lnTo>
                  <a:cubicBezTo>
                    <a:pt x="0" y="37399"/>
                    <a:pt x="5362" y="24453"/>
                    <a:pt x="14908" y="14908"/>
                  </a:cubicBezTo>
                  <a:cubicBezTo>
                    <a:pt x="24453" y="5362"/>
                    <a:pt x="37399" y="0"/>
                    <a:pt x="50898" y="0"/>
                  </a:cubicBezTo>
                  <a:close/>
                </a:path>
              </a:pathLst>
            </a:custGeom>
            <a:solidFill>
              <a:srgbClr val="FFFFFF"/>
            </a:solidFill>
          </p:spPr>
        </p:sp>
        <p:sp>
          <p:nvSpPr>
            <p:cNvPr name="TextBox 4" id="4"/>
            <p:cNvSpPr txBox="true"/>
            <p:nvPr/>
          </p:nvSpPr>
          <p:spPr>
            <a:xfrm>
              <a:off x="0" y="-38100"/>
              <a:ext cx="2043102" cy="211330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314510" y="4245503"/>
            <a:ext cx="5942209" cy="3973852"/>
          </a:xfrm>
          <a:custGeom>
            <a:avLst/>
            <a:gdLst/>
            <a:ahLst/>
            <a:cxnLst/>
            <a:rect r="r" b="b" t="t" l="l"/>
            <a:pathLst>
              <a:path h="3973852" w="5942209">
                <a:moveTo>
                  <a:pt x="0" y="0"/>
                </a:moveTo>
                <a:lnTo>
                  <a:pt x="5942210" y="0"/>
                </a:lnTo>
                <a:lnTo>
                  <a:pt x="5942210" y="3973853"/>
                </a:lnTo>
                <a:lnTo>
                  <a:pt x="0" y="3973853"/>
                </a:lnTo>
                <a:lnTo>
                  <a:pt x="0" y="0"/>
                </a:lnTo>
                <a:close/>
              </a:path>
            </a:pathLst>
          </a:custGeom>
          <a:blipFill>
            <a:blip r:embed="rId2"/>
            <a:stretch>
              <a:fillRect l="0" t="0" r="0" b="0"/>
            </a:stretch>
          </a:blipFill>
        </p:spPr>
      </p:sp>
      <p:sp>
        <p:nvSpPr>
          <p:cNvPr name="TextBox 6" id="6"/>
          <p:cNvSpPr txBox="true"/>
          <p:nvPr/>
        </p:nvSpPr>
        <p:spPr>
          <a:xfrm rot="0">
            <a:off x="1633757" y="1547011"/>
            <a:ext cx="6012349" cy="508635"/>
          </a:xfrm>
          <a:prstGeom prst="rect">
            <a:avLst/>
          </a:prstGeom>
        </p:spPr>
        <p:txBody>
          <a:bodyPr anchor="t" rtlCol="false" tIns="0" lIns="0" bIns="0" rIns="0">
            <a:spAutoFit/>
          </a:bodyPr>
          <a:lstStyle/>
          <a:p>
            <a:pPr algn="l" marL="0" indent="0" lvl="0">
              <a:lnSpc>
                <a:spcPts val="3719"/>
              </a:lnSpc>
              <a:spcBef>
                <a:spcPct val="0"/>
              </a:spcBef>
            </a:pPr>
            <a:r>
              <a:rPr lang="en-US" sz="3999">
                <a:solidFill>
                  <a:srgbClr val="000000"/>
                </a:solidFill>
                <a:latin typeface="Alice"/>
                <a:ea typeface="Alice"/>
                <a:cs typeface="Alice"/>
                <a:sym typeface="Alice"/>
              </a:rPr>
              <a:t>Methodology </a:t>
            </a:r>
          </a:p>
        </p:txBody>
      </p:sp>
      <p:sp>
        <p:nvSpPr>
          <p:cNvPr name="TextBox 7" id="7"/>
          <p:cNvSpPr txBox="true"/>
          <p:nvPr/>
        </p:nvSpPr>
        <p:spPr>
          <a:xfrm rot="0">
            <a:off x="1633757" y="2328514"/>
            <a:ext cx="6602444" cy="5582347"/>
          </a:xfrm>
          <a:prstGeom prst="rect">
            <a:avLst/>
          </a:prstGeom>
        </p:spPr>
        <p:txBody>
          <a:bodyPr anchor="t" rtlCol="false" tIns="0" lIns="0" bIns="0" rIns="0">
            <a:spAutoFit/>
          </a:bodyPr>
          <a:lstStyle/>
          <a:p>
            <a:pPr algn="l">
              <a:lnSpc>
                <a:spcPts val="3400"/>
              </a:lnSpc>
            </a:pPr>
            <a:r>
              <a:rPr lang="en-US" sz="2394">
                <a:solidFill>
                  <a:srgbClr val="000000"/>
                </a:solidFill>
                <a:latin typeface="Montserrat"/>
                <a:ea typeface="Montserrat"/>
                <a:cs typeface="Montserrat"/>
                <a:sym typeface="Montserrat"/>
              </a:rPr>
              <a:t>The methodology selected for the correllation between both variables are given by the use of a survey where people will select their specific data and then it will be correlated.</a:t>
            </a:r>
          </a:p>
          <a:p>
            <a:pPr algn="l">
              <a:lnSpc>
                <a:spcPts val="3400"/>
              </a:lnSpc>
            </a:pPr>
          </a:p>
          <a:p>
            <a:pPr algn="l">
              <a:lnSpc>
                <a:spcPts val="3400"/>
              </a:lnSpc>
            </a:pPr>
            <a:r>
              <a:rPr lang="en-US" sz="2394">
                <a:solidFill>
                  <a:srgbClr val="000000"/>
                </a:solidFill>
                <a:latin typeface="Montserrat"/>
                <a:ea typeface="Montserrat"/>
                <a:cs typeface="Montserrat"/>
                <a:sym typeface="Montserrat"/>
              </a:rPr>
              <a:t>The way the survey will be done is by answering questions daily to measure days when they feel bad emotionally and/or in terms of wanting to do something and days when they feel good and correlate them with their habits of sleeping, eating and use of technology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6EEFD"/>
        </a:solidFill>
      </p:bgPr>
    </p:bg>
    <p:spTree>
      <p:nvGrpSpPr>
        <p:cNvPr id="1" name=""/>
        <p:cNvGrpSpPr/>
        <p:nvPr/>
      </p:nvGrpSpPr>
      <p:grpSpPr>
        <a:xfrm>
          <a:off x="0" y="0"/>
          <a:ext cx="0" cy="0"/>
          <a:chOff x="0" y="0"/>
          <a:chExt cx="0" cy="0"/>
        </a:xfrm>
      </p:grpSpPr>
      <p:grpSp>
        <p:nvGrpSpPr>
          <p:cNvPr name="Group 2" id="2"/>
          <p:cNvGrpSpPr/>
          <p:nvPr/>
        </p:nvGrpSpPr>
        <p:grpSpPr>
          <a:xfrm rot="0">
            <a:off x="-1749312" y="6460340"/>
            <a:ext cx="12829324" cy="3549013"/>
            <a:chOff x="0" y="0"/>
            <a:chExt cx="3378917" cy="934719"/>
          </a:xfrm>
        </p:grpSpPr>
        <p:sp>
          <p:nvSpPr>
            <p:cNvPr name="Freeform 3" id="3"/>
            <p:cNvSpPr/>
            <p:nvPr/>
          </p:nvSpPr>
          <p:spPr>
            <a:xfrm flipH="false" flipV="false" rot="0">
              <a:off x="0" y="0"/>
              <a:ext cx="3378917" cy="934719"/>
            </a:xfrm>
            <a:custGeom>
              <a:avLst/>
              <a:gdLst/>
              <a:ahLst/>
              <a:cxnLst/>
              <a:rect r="r" b="b" t="t" l="l"/>
              <a:pathLst>
                <a:path h="934719" w="3378917">
                  <a:moveTo>
                    <a:pt x="30776" y="0"/>
                  </a:moveTo>
                  <a:lnTo>
                    <a:pt x="3348141" y="0"/>
                  </a:lnTo>
                  <a:cubicBezTo>
                    <a:pt x="3365138" y="0"/>
                    <a:pt x="3378917" y="13779"/>
                    <a:pt x="3378917" y="30776"/>
                  </a:cubicBezTo>
                  <a:lnTo>
                    <a:pt x="3378917" y="903943"/>
                  </a:lnTo>
                  <a:cubicBezTo>
                    <a:pt x="3378917" y="912106"/>
                    <a:pt x="3375674" y="919934"/>
                    <a:pt x="3369902" y="925705"/>
                  </a:cubicBezTo>
                  <a:cubicBezTo>
                    <a:pt x="3364131" y="931477"/>
                    <a:pt x="3356303" y="934719"/>
                    <a:pt x="3348141" y="934719"/>
                  </a:cubicBezTo>
                  <a:lnTo>
                    <a:pt x="30776" y="934719"/>
                  </a:lnTo>
                  <a:cubicBezTo>
                    <a:pt x="13779" y="934719"/>
                    <a:pt x="0" y="920940"/>
                    <a:pt x="0" y="903943"/>
                  </a:cubicBezTo>
                  <a:lnTo>
                    <a:pt x="0" y="30776"/>
                  </a:lnTo>
                  <a:cubicBezTo>
                    <a:pt x="0" y="22614"/>
                    <a:pt x="3242" y="14786"/>
                    <a:pt x="9014" y="9014"/>
                  </a:cubicBezTo>
                  <a:cubicBezTo>
                    <a:pt x="14786" y="3242"/>
                    <a:pt x="22614" y="0"/>
                    <a:pt x="30776" y="0"/>
                  </a:cubicBezTo>
                  <a:close/>
                </a:path>
              </a:pathLst>
            </a:custGeom>
            <a:solidFill>
              <a:srgbClr val="FFFFFF"/>
            </a:solidFill>
          </p:spPr>
        </p:sp>
        <p:sp>
          <p:nvSpPr>
            <p:cNvPr name="TextBox 4" id="4"/>
            <p:cNvSpPr txBox="true"/>
            <p:nvPr/>
          </p:nvSpPr>
          <p:spPr>
            <a:xfrm>
              <a:off x="0" y="-38100"/>
              <a:ext cx="3378917" cy="97281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792893" y="1548613"/>
            <a:ext cx="11023504" cy="2275966"/>
            <a:chOff x="0" y="0"/>
            <a:chExt cx="2903310" cy="599431"/>
          </a:xfrm>
        </p:grpSpPr>
        <p:sp>
          <p:nvSpPr>
            <p:cNvPr name="Freeform 6" id="6"/>
            <p:cNvSpPr/>
            <p:nvPr/>
          </p:nvSpPr>
          <p:spPr>
            <a:xfrm flipH="false" flipV="false" rot="0">
              <a:off x="0" y="0"/>
              <a:ext cx="2903310" cy="599431"/>
            </a:xfrm>
            <a:custGeom>
              <a:avLst/>
              <a:gdLst/>
              <a:ahLst/>
              <a:cxnLst/>
              <a:rect r="r" b="b" t="t" l="l"/>
              <a:pathLst>
                <a:path h="599431" w="2903310">
                  <a:moveTo>
                    <a:pt x="35818" y="0"/>
                  </a:moveTo>
                  <a:lnTo>
                    <a:pt x="2867492" y="0"/>
                  </a:lnTo>
                  <a:cubicBezTo>
                    <a:pt x="2887274" y="0"/>
                    <a:pt x="2903310" y="16036"/>
                    <a:pt x="2903310" y="35818"/>
                  </a:cubicBezTo>
                  <a:lnTo>
                    <a:pt x="2903310" y="563613"/>
                  </a:lnTo>
                  <a:cubicBezTo>
                    <a:pt x="2903310" y="573113"/>
                    <a:pt x="2899536" y="582223"/>
                    <a:pt x="2892819" y="588941"/>
                  </a:cubicBezTo>
                  <a:cubicBezTo>
                    <a:pt x="2886102" y="595658"/>
                    <a:pt x="2876991" y="599431"/>
                    <a:pt x="2867492" y="599431"/>
                  </a:cubicBezTo>
                  <a:lnTo>
                    <a:pt x="35818" y="599431"/>
                  </a:lnTo>
                  <a:cubicBezTo>
                    <a:pt x="16036" y="599431"/>
                    <a:pt x="0" y="583395"/>
                    <a:pt x="0" y="563613"/>
                  </a:cubicBezTo>
                  <a:lnTo>
                    <a:pt x="0" y="35818"/>
                  </a:lnTo>
                  <a:cubicBezTo>
                    <a:pt x="0" y="26318"/>
                    <a:pt x="3774" y="17208"/>
                    <a:pt x="10491" y="10491"/>
                  </a:cubicBezTo>
                  <a:cubicBezTo>
                    <a:pt x="17208" y="3774"/>
                    <a:pt x="26318" y="0"/>
                    <a:pt x="35818" y="0"/>
                  </a:cubicBezTo>
                  <a:close/>
                </a:path>
              </a:pathLst>
            </a:custGeom>
            <a:solidFill>
              <a:srgbClr val="FFFFFF"/>
            </a:solidFill>
          </p:spPr>
        </p:sp>
        <p:sp>
          <p:nvSpPr>
            <p:cNvPr name="TextBox 7" id="7"/>
            <p:cNvSpPr txBox="true"/>
            <p:nvPr/>
          </p:nvSpPr>
          <p:spPr>
            <a:xfrm>
              <a:off x="0" y="-38100"/>
              <a:ext cx="2903310" cy="637531"/>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749312" y="4004257"/>
            <a:ext cx="11996954" cy="2275966"/>
            <a:chOff x="0" y="0"/>
            <a:chExt cx="3159692" cy="599431"/>
          </a:xfrm>
        </p:grpSpPr>
        <p:sp>
          <p:nvSpPr>
            <p:cNvPr name="Freeform 9" id="9"/>
            <p:cNvSpPr/>
            <p:nvPr/>
          </p:nvSpPr>
          <p:spPr>
            <a:xfrm flipH="false" flipV="false" rot="0">
              <a:off x="0" y="0"/>
              <a:ext cx="3159692" cy="599431"/>
            </a:xfrm>
            <a:custGeom>
              <a:avLst/>
              <a:gdLst/>
              <a:ahLst/>
              <a:cxnLst/>
              <a:rect r="r" b="b" t="t" l="l"/>
              <a:pathLst>
                <a:path h="599431" w="3159692">
                  <a:moveTo>
                    <a:pt x="32912" y="0"/>
                  </a:moveTo>
                  <a:lnTo>
                    <a:pt x="3126780" y="0"/>
                  </a:lnTo>
                  <a:cubicBezTo>
                    <a:pt x="3144957" y="0"/>
                    <a:pt x="3159692" y="14735"/>
                    <a:pt x="3159692" y="32912"/>
                  </a:cubicBezTo>
                  <a:lnTo>
                    <a:pt x="3159692" y="566520"/>
                  </a:lnTo>
                  <a:cubicBezTo>
                    <a:pt x="3159692" y="575248"/>
                    <a:pt x="3156224" y="583620"/>
                    <a:pt x="3150052" y="589792"/>
                  </a:cubicBezTo>
                  <a:cubicBezTo>
                    <a:pt x="3143880" y="595964"/>
                    <a:pt x="3135509" y="599431"/>
                    <a:pt x="3126780" y="599431"/>
                  </a:cubicBezTo>
                  <a:lnTo>
                    <a:pt x="32912" y="599431"/>
                  </a:lnTo>
                  <a:cubicBezTo>
                    <a:pt x="14735" y="599431"/>
                    <a:pt x="0" y="584696"/>
                    <a:pt x="0" y="566520"/>
                  </a:cubicBezTo>
                  <a:lnTo>
                    <a:pt x="0" y="32912"/>
                  </a:lnTo>
                  <a:cubicBezTo>
                    <a:pt x="0" y="14735"/>
                    <a:pt x="14735" y="0"/>
                    <a:pt x="32912" y="0"/>
                  </a:cubicBezTo>
                  <a:close/>
                </a:path>
              </a:pathLst>
            </a:custGeom>
            <a:solidFill>
              <a:srgbClr val="FFFFFF"/>
            </a:solidFill>
          </p:spPr>
        </p:sp>
        <p:sp>
          <p:nvSpPr>
            <p:cNvPr name="TextBox 10" id="10"/>
            <p:cNvSpPr txBox="true"/>
            <p:nvPr/>
          </p:nvSpPr>
          <p:spPr>
            <a:xfrm>
              <a:off x="0" y="-38100"/>
              <a:ext cx="3159692" cy="637531"/>
            </a:xfrm>
            <a:prstGeom prst="rect">
              <a:avLst/>
            </a:prstGeom>
          </p:spPr>
          <p:txBody>
            <a:bodyPr anchor="ctr" rtlCol="false" tIns="50800" lIns="50800" bIns="50800" rIns="50800"/>
            <a:lstStyle/>
            <a:p>
              <a:pPr algn="ctr">
                <a:lnSpc>
                  <a:spcPts val="2659"/>
                </a:lnSpc>
                <a:spcBef>
                  <a:spcPct val="0"/>
                </a:spcBef>
              </a:pPr>
            </a:p>
          </p:txBody>
        </p:sp>
      </p:grpSp>
      <p:sp>
        <p:nvSpPr>
          <p:cNvPr name="Freeform 11" id="11"/>
          <p:cNvSpPr/>
          <p:nvPr/>
        </p:nvSpPr>
        <p:spPr>
          <a:xfrm flipH="false" flipV="false" rot="0">
            <a:off x="10357285" y="3424529"/>
            <a:ext cx="6945658" cy="13686025"/>
          </a:xfrm>
          <a:custGeom>
            <a:avLst/>
            <a:gdLst/>
            <a:ahLst/>
            <a:cxnLst/>
            <a:rect r="r" b="b" t="t" l="l"/>
            <a:pathLst>
              <a:path h="13686025" w="6945658">
                <a:moveTo>
                  <a:pt x="0" y="0"/>
                </a:moveTo>
                <a:lnTo>
                  <a:pt x="6945658" y="0"/>
                </a:lnTo>
                <a:lnTo>
                  <a:pt x="6945658" y="13686025"/>
                </a:lnTo>
                <a:lnTo>
                  <a:pt x="0" y="13686025"/>
                </a:lnTo>
                <a:lnTo>
                  <a:pt x="0" y="0"/>
                </a:lnTo>
                <a:close/>
              </a:path>
            </a:pathLst>
          </a:custGeom>
          <a:blipFill>
            <a:blip r:embed="rId2"/>
            <a:stretch>
              <a:fillRect l="0" t="0" r="0" b="0"/>
            </a:stretch>
          </a:blipFill>
        </p:spPr>
      </p:sp>
      <p:grpSp>
        <p:nvGrpSpPr>
          <p:cNvPr name="Group 12" id="12"/>
          <p:cNvGrpSpPr/>
          <p:nvPr/>
        </p:nvGrpSpPr>
        <p:grpSpPr>
          <a:xfrm rot="0">
            <a:off x="1090182" y="1950468"/>
            <a:ext cx="6317965" cy="1444188"/>
            <a:chOff x="0" y="0"/>
            <a:chExt cx="8423954" cy="1925585"/>
          </a:xfrm>
        </p:grpSpPr>
        <p:sp>
          <p:nvSpPr>
            <p:cNvPr name="TextBox 13" id="13"/>
            <p:cNvSpPr txBox="true"/>
            <p:nvPr/>
          </p:nvSpPr>
          <p:spPr>
            <a:xfrm rot="0">
              <a:off x="0" y="-28575"/>
              <a:ext cx="8423954" cy="838835"/>
            </a:xfrm>
            <a:prstGeom prst="rect">
              <a:avLst/>
            </a:prstGeom>
          </p:spPr>
          <p:txBody>
            <a:bodyPr anchor="t" rtlCol="false" tIns="0" lIns="0" bIns="0" rIns="0">
              <a:spAutoFit/>
            </a:bodyPr>
            <a:lstStyle/>
            <a:p>
              <a:pPr algn="l" marL="0" indent="0" lvl="0">
                <a:lnSpc>
                  <a:spcPts val="5039"/>
                </a:lnSpc>
                <a:spcBef>
                  <a:spcPct val="0"/>
                </a:spcBef>
              </a:pPr>
              <a:r>
                <a:rPr lang="en-US" sz="3999">
                  <a:solidFill>
                    <a:srgbClr val="000000"/>
                  </a:solidFill>
                  <a:latin typeface="Alice"/>
                  <a:ea typeface="Alice"/>
                  <a:cs typeface="Alice"/>
                  <a:sym typeface="Alice"/>
                </a:rPr>
                <a:t>Approach</a:t>
              </a:r>
            </a:p>
          </p:txBody>
        </p:sp>
        <p:sp>
          <p:nvSpPr>
            <p:cNvPr name="TextBox 14" id="14"/>
            <p:cNvSpPr txBox="true"/>
            <p:nvPr/>
          </p:nvSpPr>
          <p:spPr>
            <a:xfrm rot="0">
              <a:off x="0" y="918517"/>
              <a:ext cx="8423954" cy="1007068"/>
            </a:xfrm>
            <a:prstGeom prst="rect">
              <a:avLst/>
            </a:prstGeom>
          </p:spPr>
          <p:txBody>
            <a:bodyPr anchor="t" rtlCol="false" tIns="0" lIns="0" bIns="0" rIns="0">
              <a:spAutoFit/>
            </a:bodyPr>
            <a:lstStyle/>
            <a:p>
              <a:pPr algn="l" marL="0" indent="0" lvl="1">
                <a:lnSpc>
                  <a:spcPts val="3123"/>
                </a:lnSpc>
                <a:spcBef>
                  <a:spcPct val="0"/>
                </a:spcBef>
              </a:pPr>
              <a:r>
                <a:rPr lang="en-US" sz="2199">
                  <a:solidFill>
                    <a:srgbClr val="000000"/>
                  </a:solidFill>
                  <a:latin typeface="Montserrat"/>
                  <a:ea typeface="Montserrat"/>
                  <a:cs typeface="Montserrat"/>
                  <a:sym typeface="Montserrat"/>
                </a:rPr>
                <a:t>Q</a:t>
              </a:r>
              <a:r>
                <a:rPr lang="en-US" sz="2199" strike="noStrike" u="none">
                  <a:solidFill>
                    <a:srgbClr val="000000"/>
                  </a:solidFill>
                  <a:latin typeface="Montserrat"/>
                  <a:ea typeface="Montserrat"/>
                  <a:cs typeface="Montserrat"/>
                  <a:sym typeface="Montserrat"/>
                </a:rPr>
                <a:t>uant</a:t>
              </a:r>
              <a:r>
                <a:rPr lang="en-US" sz="2199" strike="noStrike" u="none">
                  <a:solidFill>
                    <a:srgbClr val="000000"/>
                  </a:solidFill>
                  <a:latin typeface="Montserrat"/>
                  <a:ea typeface="Montserrat"/>
                  <a:cs typeface="Montserrat"/>
                  <a:sym typeface="Montserrat"/>
                </a:rPr>
                <a:t>i</a:t>
              </a:r>
              <a:r>
                <a:rPr lang="en-US" sz="2199" strike="noStrike" u="none">
                  <a:solidFill>
                    <a:srgbClr val="000000"/>
                  </a:solidFill>
                  <a:latin typeface="Montserrat"/>
                  <a:ea typeface="Montserrat"/>
                  <a:cs typeface="Montserrat"/>
                  <a:sym typeface="Montserrat"/>
                </a:rPr>
                <a:t>tati</a:t>
              </a:r>
              <a:r>
                <a:rPr lang="en-US" sz="2199" strike="noStrike" u="none">
                  <a:solidFill>
                    <a:srgbClr val="000000"/>
                  </a:solidFill>
                  <a:latin typeface="Montserrat"/>
                  <a:ea typeface="Montserrat"/>
                  <a:cs typeface="Montserrat"/>
                  <a:sym typeface="Montserrat"/>
                </a:rPr>
                <a:t>v</a:t>
              </a:r>
              <a:r>
                <a:rPr lang="en-US" sz="2199" strike="noStrike" u="none">
                  <a:solidFill>
                    <a:srgbClr val="000000"/>
                  </a:solidFill>
                  <a:latin typeface="Montserrat"/>
                  <a:ea typeface="Montserrat"/>
                  <a:cs typeface="Montserrat"/>
                  <a:sym typeface="Montserrat"/>
                </a:rPr>
                <a:t>e correl</a:t>
              </a:r>
              <a:r>
                <a:rPr lang="en-US" sz="2199" strike="noStrike" u="none">
                  <a:solidFill>
                    <a:srgbClr val="000000"/>
                  </a:solidFill>
                  <a:latin typeface="Montserrat"/>
                  <a:ea typeface="Montserrat"/>
                  <a:cs typeface="Montserrat"/>
                  <a:sym typeface="Montserrat"/>
                </a:rPr>
                <a:t>at</a:t>
              </a:r>
              <a:r>
                <a:rPr lang="en-US" sz="2199" strike="noStrike" u="none">
                  <a:solidFill>
                    <a:srgbClr val="000000"/>
                  </a:solidFill>
                  <a:latin typeface="Montserrat"/>
                  <a:ea typeface="Montserrat"/>
                  <a:cs typeface="Montserrat"/>
                  <a:sym typeface="Montserrat"/>
                </a:rPr>
                <a:t>i</a:t>
              </a:r>
              <a:r>
                <a:rPr lang="en-US" sz="2199" strike="noStrike" u="none">
                  <a:solidFill>
                    <a:srgbClr val="000000"/>
                  </a:solidFill>
                  <a:latin typeface="Montserrat"/>
                  <a:ea typeface="Montserrat"/>
                  <a:cs typeface="Montserrat"/>
                  <a:sym typeface="Montserrat"/>
                </a:rPr>
                <a:t>o</a:t>
              </a:r>
              <a:r>
                <a:rPr lang="en-US" sz="2199" strike="noStrike" u="none">
                  <a:solidFill>
                    <a:srgbClr val="000000"/>
                  </a:solidFill>
                  <a:latin typeface="Montserrat"/>
                  <a:ea typeface="Montserrat"/>
                  <a:cs typeface="Montserrat"/>
                  <a:sym typeface="Montserrat"/>
                </a:rPr>
                <a:t>n</a:t>
              </a:r>
              <a:r>
                <a:rPr lang="en-US" sz="2199" strike="noStrike" u="none">
                  <a:solidFill>
                    <a:srgbClr val="000000"/>
                  </a:solidFill>
                  <a:latin typeface="Montserrat"/>
                  <a:ea typeface="Montserrat"/>
                  <a:cs typeface="Montserrat"/>
                  <a:sym typeface="Montserrat"/>
                </a:rPr>
                <a:t>al</a:t>
              </a:r>
              <a:r>
                <a:rPr lang="en-US" sz="2199" strike="noStrike" u="none">
                  <a:solidFill>
                    <a:srgbClr val="000000"/>
                  </a:solidFill>
                  <a:latin typeface="Montserrat"/>
                  <a:ea typeface="Montserrat"/>
                  <a:cs typeface="Montserrat"/>
                  <a:sym typeface="Montserrat"/>
                </a:rPr>
                <a:t> st</a:t>
              </a:r>
              <a:r>
                <a:rPr lang="en-US" sz="2199" strike="noStrike" u="none">
                  <a:solidFill>
                    <a:srgbClr val="000000"/>
                  </a:solidFill>
                  <a:latin typeface="Montserrat"/>
                  <a:ea typeface="Montserrat"/>
                  <a:cs typeface="Montserrat"/>
                  <a:sym typeface="Montserrat"/>
                </a:rPr>
                <a:t>udy</a:t>
              </a:r>
              <a:r>
                <a:rPr lang="en-US" sz="2199" strike="noStrike" u="none">
                  <a:solidFill>
                    <a:srgbClr val="000000"/>
                  </a:solidFill>
                  <a:latin typeface="Montserrat"/>
                  <a:ea typeface="Montserrat"/>
                  <a:cs typeface="Montserrat"/>
                  <a:sym typeface="Montserrat"/>
                </a:rPr>
                <a:t> us</a:t>
              </a:r>
              <a:r>
                <a:rPr lang="en-US" sz="2199" strike="noStrike" u="none">
                  <a:solidFill>
                    <a:srgbClr val="000000"/>
                  </a:solidFill>
                  <a:latin typeface="Montserrat"/>
                  <a:ea typeface="Montserrat"/>
                  <a:cs typeface="Montserrat"/>
                  <a:sym typeface="Montserrat"/>
                </a:rPr>
                <a:t>ing</a:t>
              </a:r>
              <a:r>
                <a:rPr lang="en-US" sz="2199" strike="noStrike" u="none">
                  <a:solidFill>
                    <a:srgbClr val="000000"/>
                  </a:solidFill>
                  <a:latin typeface="Montserrat"/>
                  <a:ea typeface="Montserrat"/>
                  <a:cs typeface="Montserrat"/>
                  <a:sym typeface="Montserrat"/>
                </a:rPr>
                <a:t> </a:t>
              </a:r>
              <a:r>
                <a:rPr lang="en-US" sz="2199" strike="noStrike" u="none">
                  <a:solidFill>
                    <a:srgbClr val="000000"/>
                  </a:solidFill>
                  <a:latin typeface="Montserrat"/>
                  <a:ea typeface="Montserrat"/>
                  <a:cs typeface="Montserrat"/>
                  <a:sym typeface="Montserrat"/>
                </a:rPr>
                <a:t>a</a:t>
              </a:r>
              <a:r>
                <a:rPr lang="en-US" sz="2199" strike="noStrike" u="none">
                  <a:solidFill>
                    <a:srgbClr val="000000"/>
                  </a:solidFill>
                  <a:latin typeface="Montserrat"/>
                  <a:ea typeface="Montserrat"/>
                  <a:cs typeface="Montserrat"/>
                  <a:sym typeface="Montserrat"/>
                </a:rPr>
                <a:t> </a:t>
              </a:r>
              <a:r>
                <a:rPr lang="en-US" sz="2199" strike="noStrike" u="none">
                  <a:solidFill>
                    <a:srgbClr val="000000"/>
                  </a:solidFill>
                  <a:latin typeface="Montserrat"/>
                  <a:ea typeface="Montserrat"/>
                  <a:cs typeface="Montserrat"/>
                  <a:sym typeface="Montserrat"/>
                </a:rPr>
                <a:t>d</a:t>
              </a:r>
              <a:r>
                <a:rPr lang="en-US" sz="2199" strike="noStrike" u="none">
                  <a:solidFill>
                    <a:srgbClr val="000000"/>
                  </a:solidFill>
                  <a:latin typeface="Montserrat"/>
                  <a:ea typeface="Montserrat"/>
                  <a:cs typeface="Montserrat"/>
                  <a:sym typeface="Montserrat"/>
                </a:rPr>
                <a:t>igit</a:t>
              </a:r>
              <a:r>
                <a:rPr lang="en-US" sz="2199" strike="noStrike" u="none">
                  <a:solidFill>
                    <a:srgbClr val="000000"/>
                  </a:solidFill>
                  <a:latin typeface="Montserrat"/>
                  <a:ea typeface="Montserrat"/>
                  <a:cs typeface="Montserrat"/>
                  <a:sym typeface="Montserrat"/>
                </a:rPr>
                <a:t>al</a:t>
              </a:r>
              <a:r>
                <a:rPr lang="en-US" sz="2199" strike="noStrike" u="none">
                  <a:solidFill>
                    <a:srgbClr val="000000"/>
                  </a:solidFill>
                  <a:latin typeface="Montserrat"/>
                  <a:ea typeface="Montserrat"/>
                  <a:cs typeface="Montserrat"/>
                  <a:sym typeface="Montserrat"/>
                </a:rPr>
                <a:t> su</a:t>
              </a:r>
              <a:r>
                <a:rPr lang="en-US" sz="2199" strike="noStrike" u="none">
                  <a:solidFill>
                    <a:srgbClr val="000000"/>
                  </a:solidFill>
                  <a:latin typeface="Montserrat"/>
                  <a:ea typeface="Montserrat"/>
                  <a:cs typeface="Montserrat"/>
                  <a:sym typeface="Montserrat"/>
                </a:rPr>
                <a:t>rvey</a:t>
              </a:r>
              <a:r>
                <a:rPr lang="en-US" sz="2199" strike="noStrike" u="none">
                  <a:solidFill>
                    <a:srgbClr val="000000"/>
                  </a:solidFill>
                  <a:latin typeface="Montserrat"/>
                  <a:ea typeface="Montserrat"/>
                  <a:cs typeface="Montserrat"/>
                  <a:sym typeface="Montserrat"/>
                </a:rPr>
                <a:t>.</a:t>
              </a:r>
            </a:p>
          </p:txBody>
        </p:sp>
      </p:grpSp>
      <p:grpSp>
        <p:nvGrpSpPr>
          <p:cNvPr name="Group 15" id="15"/>
          <p:cNvGrpSpPr/>
          <p:nvPr/>
        </p:nvGrpSpPr>
        <p:grpSpPr>
          <a:xfrm rot="0">
            <a:off x="1925724" y="4421406"/>
            <a:ext cx="6317965" cy="1444188"/>
            <a:chOff x="0" y="0"/>
            <a:chExt cx="8423954" cy="1925585"/>
          </a:xfrm>
        </p:grpSpPr>
        <p:sp>
          <p:nvSpPr>
            <p:cNvPr name="TextBox 16" id="16"/>
            <p:cNvSpPr txBox="true"/>
            <p:nvPr/>
          </p:nvSpPr>
          <p:spPr>
            <a:xfrm rot="0">
              <a:off x="0" y="-28575"/>
              <a:ext cx="8423954" cy="838835"/>
            </a:xfrm>
            <a:prstGeom prst="rect">
              <a:avLst/>
            </a:prstGeom>
          </p:spPr>
          <p:txBody>
            <a:bodyPr anchor="t" rtlCol="false" tIns="0" lIns="0" bIns="0" rIns="0">
              <a:spAutoFit/>
            </a:bodyPr>
            <a:lstStyle/>
            <a:p>
              <a:pPr algn="l" marL="0" indent="0" lvl="0">
                <a:lnSpc>
                  <a:spcPts val="5039"/>
                </a:lnSpc>
                <a:spcBef>
                  <a:spcPct val="0"/>
                </a:spcBef>
              </a:pPr>
              <a:r>
                <a:rPr lang="en-US" sz="3999">
                  <a:solidFill>
                    <a:srgbClr val="000000"/>
                  </a:solidFill>
                  <a:latin typeface="Alice"/>
                  <a:ea typeface="Alice"/>
                  <a:cs typeface="Alice"/>
                  <a:sym typeface="Alice"/>
                </a:rPr>
                <a:t>Objective</a:t>
              </a:r>
            </a:p>
          </p:txBody>
        </p:sp>
        <p:sp>
          <p:nvSpPr>
            <p:cNvPr name="TextBox 17" id="17"/>
            <p:cNvSpPr txBox="true"/>
            <p:nvPr/>
          </p:nvSpPr>
          <p:spPr>
            <a:xfrm rot="0">
              <a:off x="0" y="918517"/>
              <a:ext cx="8423954" cy="1007068"/>
            </a:xfrm>
            <a:prstGeom prst="rect">
              <a:avLst/>
            </a:prstGeom>
          </p:spPr>
          <p:txBody>
            <a:bodyPr anchor="t" rtlCol="false" tIns="0" lIns="0" bIns="0" rIns="0">
              <a:spAutoFit/>
            </a:bodyPr>
            <a:lstStyle/>
            <a:p>
              <a:pPr algn="l" marL="0" indent="0" lvl="1">
                <a:lnSpc>
                  <a:spcPts val="3123"/>
                </a:lnSpc>
                <a:spcBef>
                  <a:spcPct val="0"/>
                </a:spcBef>
              </a:pPr>
              <a:r>
                <a:rPr lang="en-US" sz="2199">
                  <a:solidFill>
                    <a:srgbClr val="000000"/>
                  </a:solidFill>
                  <a:latin typeface="Montserrat"/>
                  <a:ea typeface="Montserrat"/>
                  <a:cs typeface="Montserrat"/>
                  <a:sym typeface="Montserrat"/>
                </a:rPr>
                <a:t>C</a:t>
              </a:r>
              <a:r>
                <a:rPr lang="en-US" sz="2199" strike="noStrike" u="none">
                  <a:solidFill>
                    <a:srgbClr val="000000"/>
                  </a:solidFill>
                  <a:latin typeface="Montserrat"/>
                  <a:ea typeface="Montserrat"/>
                  <a:cs typeface="Montserrat"/>
                  <a:sym typeface="Montserrat"/>
                </a:rPr>
                <a:t>orrelat</a:t>
              </a:r>
              <a:r>
                <a:rPr lang="en-US" sz="2199" strike="noStrike" u="none">
                  <a:solidFill>
                    <a:srgbClr val="000000"/>
                  </a:solidFill>
                  <a:latin typeface="Montserrat"/>
                  <a:ea typeface="Montserrat"/>
                  <a:cs typeface="Montserrat"/>
                  <a:sym typeface="Montserrat"/>
                </a:rPr>
                <a:t>e daily behav</a:t>
              </a:r>
              <a:r>
                <a:rPr lang="en-US" sz="2199" strike="noStrike" u="none">
                  <a:solidFill>
                    <a:srgbClr val="000000"/>
                  </a:solidFill>
                  <a:latin typeface="Montserrat"/>
                  <a:ea typeface="Montserrat"/>
                  <a:cs typeface="Montserrat"/>
                  <a:sym typeface="Montserrat"/>
                </a:rPr>
                <a:t>io</a:t>
              </a:r>
              <a:r>
                <a:rPr lang="en-US" sz="2199" strike="noStrike" u="none">
                  <a:solidFill>
                    <a:srgbClr val="000000"/>
                  </a:solidFill>
                  <a:latin typeface="Montserrat"/>
                  <a:ea typeface="Montserrat"/>
                  <a:cs typeface="Montserrat"/>
                  <a:sym typeface="Montserrat"/>
                </a:rPr>
                <a:t>r</a:t>
              </a:r>
              <a:r>
                <a:rPr lang="en-US" sz="2199" strike="noStrike" u="none">
                  <a:solidFill>
                    <a:srgbClr val="000000"/>
                  </a:solidFill>
                  <a:latin typeface="Montserrat"/>
                  <a:ea typeface="Montserrat"/>
                  <a:cs typeface="Montserrat"/>
                  <a:sym typeface="Montserrat"/>
                </a:rPr>
                <a:t>al habits with fluctuati</a:t>
              </a:r>
              <a:r>
                <a:rPr lang="en-US" sz="2199" strike="noStrike" u="none">
                  <a:solidFill>
                    <a:srgbClr val="000000"/>
                  </a:solidFill>
                  <a:latin typeface="Montserrat"/>
                  <a:ea typeface="Montserrat"/>
                  <a:cs typeface="Montserrat"/>
                  <a:sym typeface="Montserrat"/>
                </a:rPr>
                <a:t>o</a:t>
              </a:r>
              <a:r>
                <a:rPr lang="en-US" sz="2199" strike="noStrike" u="none">
                  <a:solidFill>
                    <a:srgbClr val="000000"/>
                  </a:solidFill>
                  <a:latin typeface="Montserrat"/>
                  <a:ea typeface="Montserrat"/>
                  <a:cs typeface="Montserrat"/>
                  <a:sym typeface="Montserrat"/>
                </a:rPr>
                <a:t>n</a:t>
              </a:r>
              <a:r>
                <a:rPr lang="en-US" sz="2199" strike="noStrike" u="none">
                  <a:solidFill>
                    <a:srgbClr val="000000"/>
                  </a:solidFill>
                  <a:latin typeface="Montserrat"/>
                  <a:ea typeface="Montserrat"/>
                  <a:cs typeface="Montserrat"/>
                  <a:sym typeface="Montserrat"/>
                </a:rPr>
                <a:t>s</a:t>
              </a:r>
              <a:r>
                <a:rPr lang="en-US" sz="2199" strike="noStrike" u="none">
                  <a:solidFill>
                    <a:srgbClr val="000000"/>
                  </a:solidFill>
                  <a:latin typeface="Montserrat"/>
                  <a:ea typeface="Montserrat"/>
                  <a:cs typeface="Montserrat"/>
                  <a:sym typeface="Montserrat"/>
                </a:rPr>
                <a:t> in emotional we</a:t>
              </a:r>
              <a:r>
                <a:rPr lang="en-US" sz="2199" strike="noStrike" u="none">
                  <a:solidFill>
                    <a:srgbClr val="000000"/>
                  </a:solidFill>
                  <a:latin typeface="Montserrat"/>
                  <a:ea typeface="Montserrat"/>
                  <a:cs typeface="Montserrat"/>
                  <a:sym typeface="Montserrat"/>
                </a:rPr>
                <a:t>ll-being</a:t>
              </a:r>
              <a:r>
                <a:rPr lang="en-US" sz="2199" strike="noStrike" u="none">
                  <a:solidFill>
                    <a:srgbClr val="000000"/>
                  </a:solidFill>
                  <a:latin typeface="Montserrat"/>
                  <a:ea typeface="Montserrat"/>
                  <a:cs typeface="Montserrat"/>
                  <a:sym typeface="Montserrat"/>
                </a:rPr>
                <a:t>.</a:t>
              </a:r>
            </a:p>
          </p:txBody>
        </p:sp>
      </p:grpSp>
      <p:grpSp>
        <p:nvGrpSpPr>
          <p:cNvPr name="Group 18" id="18"/>
          <p:cNvGrpSpPr/>
          <p:nvPr/>
        </p:nvGrpSpPr>
        <p:grpSpPr>
          <a:xfrm rot="0">
            <a:off x="1925724" y="6572311"/>
            <a:ext cx="8574731" cy="3437042"/>
            <a:chOff x="0" y="0"/>
            <a:chExt cx="11432975" cy="4582723"/>
          </a:xfrm>
        </p:grpSpPr>
        <p:sp>
          <p:nvSpPr>
            <p:cNvPr name="TextBox 19" id="19"/>
            <p:cNvSpPr txBox="true"/>
            <p:nvPr/>
          </p:nvSpPr>
          <p:spPr>
            <a:xfrm rot="0">
              <a:off x="847831" y="-28575"/>
              <a:ext cx="9991663" cy="838835"/>
            </a:xfrm>
            <a:prstGeom prst="rect">
              <a:avLst/>
            </a:prstGeom>
          </p:spPr>
          <p:txBody>
            <a:bodyPr anchor="t" rtlCol="false" tIns="0" lIns="0" bIns="0" rIns="0">
              <a:spAutoFit/>
            </a:bodyPr>
            <a:lstStyle/>
            <a:p>
              <a:pPr algn="l" marL="0" indent="0" lvl="0">
                <a:lnSpc>
                  <a:spcPts val="5039"/>
                </a:lnSpc>
                <a:spcBef>
                  <a:spcPct val="0"/>
                </a:spcBef>
              </a:pPr>
              <a:r>
                <a:rPr lang="en-US" sz="3999">
                  <a:solidFill>
                    <a:srgbClr val="000000"/>
                  </a:solidFill>
                  <a:latin typeface="Alice"/>
                  <a:ea typeface="Alice"/>
                  <a:cs typeface="Alice"/>
                  <a:sym typeface="Alice"/>
                </a:rPr>
                <a:t>Survey Modules &amp; Variables</a:t>
              </a:r>
            </a:p>
          </p:txBody>
        </p:sp>
        <p:sp>
          <p:nvSpPr>
            <p:cNvPr name="TextBox 20" id="20"/>
            <p:cNvSpPr txBox="true"/>
            <p:nvPr/>
          </p:nvSpPr>
          <p:spPr>
            <a:xfrm rot="0">
              <a:off x="0" y="972155"/>
              <a:ext cx="11432975" cy="3610568"/>
            </a:xfrm>
            <a:prstGeom prst="rect">
              <a:avLst/>
            </a:prstGeom>
          </p:spPr>
          <p:txBody>
            <a:bodyPr anchor="t" rtlCol="false" tIns="0" lIns="0" bIns="0" rIns="0">
              <a:spAutoFit/>
            </a:bodyPr>
            <a:lstStyle/>
            <a:p>
              <a:pPr algn="l" marL="474978" indent="-237489" lvl="1">
                <a:lnSpc>
                  <a:spcPts val="3123"/>
                </a:lnSpc>
                <a:spcBef>
                  <a:spcPct val="0"/>
                </a:spcBef>
                <a:buFont typeface="Arial"/>
                <a:buChar char="•"/>
              </a:pPr>
              <a:r>
                <a:rPr lang="en-US" sz="2199">
                  <a:solidFill>
                    <a:srgbClr val="000000"/>
                  </a:solidFill>
                  <a:latin typeface="Montserrat"/>
                  <a:ea typeface="Montserrat"/>
                  <a:cs typeface="Montserrat"/>
                  <a:sym typeface="Montserrat"/>
                </a:rPr>
                <a:t>Sleep H</a:t>
              </a:r>
              <a:r>
                <a:rPr lang="en-US" sz="2199" strike="noStrike" u="none">
                  <a:solidFill>
                    <a:srgbClr val="000000"/>
                  </a:solidFill>
                  <a:latin typeface="Montserrat"/>
                  <a:ea typeface="Montserrat"/>
                  <a:cs typeface="Montserrat"/>
                  <a:sym typeface="Montserrat"/>
                </a:rPr>
                <a:t>abits: Total sleep time and perceived rest quality.</a:t>
              </a:r>
            </a:p>
            <a:p>
              <a:pPr algn="l" marL="474978" indent="-237489" lvl="1">
                <a:lnSpc>
                  <a:spcPts val="3123"/>
                </a:lnSpc>
                <a:spcBef>
                  <a:spcPct val="0"/>
                </a:spcBef>
                <a:buFont typeface="Arial"/>
                <a:buChar char="•"/>
              </a:pPr>
              <a:r>
                <a:rPr lang="en-US" sz="2199" strike="noStrike" u="none">
                  <a:solidFill>
                    <a:srgbClr val="000000"/>
                  </a:solidFill>
                  <a:latin typeface="Montserrat"/>
                  <a:ea typeface="Montserrat"/>
                  <a:cs typeface="Montserrat"/>
                  <a:sym typeface="Montserrat"/>
                </a:rPr>
                <a:t>Food Ha</a:t>
              </a:r>
              <a:r>
                <a:rPr lang="en-US" sz="2199" strike="noStrike" u="none">
                  <a:solidFill>
                    <a:srgbClr val="000000"/>
                  </a:solidFill>
                  <a:latin typeface="Montserrat"/>
                  <a:ea typeface="Montserrat"/>
                  <a:cs typeface="Montserrat"/>
                  <a:sym typeface="Montserrat"/>
                </a:rPr>
                <a:t>bits: Meal frequency and nutri</a:t>
              </a:r>
              <a:r>
                <a:rPr lang="en-US" sz="2199" strike="noStrike" u="none">
                  <a:solidFill>
                    <a:srgbClr val="000000"/>
                  </a:solidFill>
                  <a:latin typeface="Montserrat"/>
                  <a:ea typeface="Montserrat"/>
                  <a:cs typeface="Montserrat"/>
                  <a:sym typeface="Montserrat"/>
                </a:rPr>
                <a:t>tional quality.</a:t>
              </a:r>
            </a:p>
            <a:p>
              <a:pPr algn="l" marL="474978" indent="-237489" lvl="1">
                <a:lnSpc>
                  <a:spcPts val="3123"/>
                </a:lnSpc>
                <a:spcBef>
                  <a:spcPct val="0"/>
                </a:spcBef>
                <a:buFont typeface="Arial"/>
                <a:buChar char="•"/>
              </a:pPr>
              <a:r>
                <a:rPr lang="en-US" sz="2199" strike="noStrike" u="none">
                  <a:solidFill>
                    <a:srgbClr val="000000"/>
                  </a:solidFill>
                  <a:latin typeface="Montserrat"/>
                  <a:ea typeface="Montserrat"/>
                  <a:cs typeface="Montserrat"/>
                  <a:sym typeface="Montserrat"/>
                </a:rPr>
                <a:t>Technology &amp; AI: Screen time, AI applicati</a:t>
              </a:r>
              <a:r>
                <a:rPr lang="en-US" sz="2199" strike="noStrike" u="none">
                  <a:solidFill>
                    <a:srgbClr val="000000"/>
                  </a:solidFill>
                  <a:latin typeface="Montserrat"/>
                  <a:ea typeface="Montserrat"/>
                  <a:cs typeface="Montserrat"/>
                  <a:sym typeface="Montserrat"/>
                </a:rPr>
                <a:t>o</a:t>
              </a:r>
              <a:r>
                <a:rPr lang="en-US" sz="2199" strike="noStrike" u="none">
                  <a:solidFill>
                    <a:srgbClr val="000000"/>
                  </a:solidFill>
                  <a:latin typeface="Montserrat"/>
                  <a:ea typeface="Montserrat"/>
                  <a:cs typeface="Montserrat"/>
                  <a:sym typeface="Montserrat"/>
                </a:rPr>
                <a:t>n</a:t>
              </a:r>
              <a:r>
                <a:rPr lang="en-US" sz="2199" strike="noStrike" u="none">
                  <a:solidFill>
                    <a:srgbClr val="000000"/>
                  </a:solidFill>
                  <a:latin typeface="Montserrat"/>
                  <a:ea typeface="Montserrat"/>
                  <a:cs typeface="Montserrat"/>
                  <a:sym typeface="Montserrat"/>
                </a:rPr>
                <a:t>,</a:t>
              </a:r>
              <a:r>
                <a:rPr lang="en-US" sz="2199" strike="noStrike" u="none">
                  <a:solidFill>
                    <a:srgbClr val="000000"/>
                  </a:solidFill>
                  <a:latin typeface="Montserrat"/>
                  <a:ea typeface="Montserrat"/>
                  <a:cs typeface="Montserrat"/>
                  <a:sym typeface="Montserrat"/>
                </a:rPr>
                <a:t> a</a:t>
              </a:r>
              <a:r>
                <a:rPr lang="en-US" sz="2199" strike="noStrike" u="none">
                  <a:solidFill>
                    <a:srgbClr val="000000"/>
                  </a:solidFill>
                  <a:latin typeface="Montserrat"/>
                  <a:ea typeface="Montserrat"/>
                  <a:cs typeface="Montserrat"/>
                  <a:sym typeface="Montserrat"/>
                </a:rPr>
                <a:t>nd tech</a:t>
              </a:r>
              <a:r>
                <a:rPr lang="en-US" sz="2199" strike="noStrike" u="none">
                  <a:solidFill>
                    <a:srgbClr val="000000"/>
                  </a:solidFill>
                  <a:latin typeface="Montserrat"/>
                  <a:ea typeface="Montserrat"/>
                  <a:cs typeface="Montserrat"/>
                  <a:sym typeface="Montserrat"/>
                </a:rPr>
                <a:t> d</a:t>
              </a:r>
              <a:r>
                <a:rPr lang="en-US" sz="2199" strike="noStrike" u="none">
                  <a:solidFill>
                    <a:srgbClr val="000000"/>
                  </a:solidFill>
                  <a:latin typeface="Montserrat"/>
                  <a:ea typeface="Montserrat"/>
                  <a:cs typeface="Montserrat"/>
                  <a:sym typeface="Montserrat"/>
                </a:rPr>
                <a:t>ependence.</a:t>
              </a:r>
            </a:p>
            <a:p>
              <a:pPr algn="l" marL="474978" indent="-237489" lvl="1">
                <a:lnSpc>
                  <a:spcPts val="3123"/>
                </a:lnSpc>
                <a:spcBef>
                  <a:spcPct val="0"/>
                </a:spcBef>
                <a:buFont typeface="Arial"/>
                <a:buChar char="•"/>
              </a:pPr>
              <a:r>
                <a:rPr lang="en-US" sz="2199" strike="noStrike" u="none">
                  <a:solidFill>
                    <a:srgbClr val="000000"/>
                  </a:solidFill>
                  <a:latin typeface="Montserrat"/>
                  <a:ea typeface="Montserrat"/>
                  <a:cs typeface="Montserrat"/>
                  <a:sym typeface="Montserrat"/>
                </a:rPr>
                <a:t>Emot</a:t>
              </a:r>
              <a:r>
                <a:rPr lang="en-US" sz="2199" strike="noStrike" u="none">
                  <a:solidFill>
                    <a:srgbClr val="000000"/>
                  </a:solidFill>
                  <a:latin typeface="Montserrat"/>
                  <a:ea typeface="Montserrat"/>
                  <a:cs typeface="Montserrat"/>
                  <a:sym typeface="Montserrat"/>
                </a:rPr>
                <a:t>ional Well-being: General mood, motivation, a</a:t>
              </a:r>
              <a:r>
                <a:rPr lang="en-US" sz="2199" strike="noStrike" u="none">
                  <a:solidFill>
                    <a:srgbClr val="000000"/>
                  </a:solidFill>
                  <a:latin typeface="Montserrat"/>
                  <a:ea typeface="Montserrat"/>
                  <a:cs typeface="Montserrat"/>
                  <a:sym typeface="Montserrat"/>
                </a:rPr>
                <a:t>nd</a:t>
              </a:r>
              <a:r>
                <a:rPr lang="en-US" sz="2199" strike="noStrike" u="none">
                  <a:solidFill>
                    <a:srgbClr val="000000"/>
                  </a:solidFill>
                  <a:latin typeface="Montserrat"/>
                  <a:ea typeface="Montserrat"/>
                  <a:cs typeface="Montserrat"/>
                  <a:sym typeface="Montserrat"/>
                </a:rPr>
                <a:t> fatigue.</a:t>
              </a:r>
            </a:p>
            <a:p>
              <a:pPr algn="l">
                <a:lnSpc>
                  <a:spcPts val="3123"/>
                </a:lnSpc>
                <a:spcBef>
                  <a:spcPct val="0"/>
                </a:spcBef>
              </a:pPr>
            </a:p>
          </p:txBody>
        </p:sp>
      </p:grpSp>
      <p:sp>
        <p:nvSpPr>
          <p:cNvPr name="TextBox 21" id="21"/>
          <p:cNvSpPr txBox="true"/>
          <p:nvPr/>
        </p:nvSpPr>
        <p:spPr>
          <a:xfrm rot="0">
            <a:off x="11080012" y="1341921"/>
            <a:ext cx="6012349" cy="508635"/>
          </a:xfrm>
          <a:prstGeom prst="rect">
            <a:avLst/>
          </a:prstGeom>
        </p:spPr>
        <p:txBody>
          <a:bodyPr anchor="t" rtlCol="false" tIns="0" lIns="0" bIns="0" rIns="0">
            <a:spAutoFit/>
          </a:bodyPr>
          <a:lstStyle/>
          <a:p>
            <a:pPr algn="l" marL="0" indent="0" lvl="0">
              <a:lnSpc>
                <a:spcPts val="3719"/>
              </a:lnSpc>
              <a:spcBef>
                <a:spcPct val="0"/>
              </a:spcBef>
            </a:pPr>
            <a:r>
              <a:rPr lang="en-US" sz="3999">
                <a:solidFill>
                  <a:srgbClr val="000000"/>
                </a:solidFill>
                <a:latin typeface="Alice"/>
                <a:ea typeface="Alice"/>
                <a:cs typeface="Alice"/>
                <a:sym typeface="Alice"/>
              </a:rPr>
              <a:t>Project design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6EEFD"/>
        </a:solidFill>
      </p:bgPr>
    </p:bg>
    <p:spTree>
      <p:nvGrpSpPr>
        <p:cNvPr id="1" name=""/>
        <p:cNvGrpSpPr/>
        <p:nvPr/>
      </p:nvGrpSpPr>
      <p:grpSpPr>
        <a:xfrm>
          <a:off x="0" y="0"/>
          <a:ext cx="0" cy="0"/>
          <a:chOff x="0" y="0"/>
          <a:chExt cx="0" cy="0"/>
        </a:xfrm>
      </p:grpSpPr>
      <p:grpSp>
        <p:nvGrpSpPr>
          <p:cNvPr name="Group 2" id="2"/>
          <p:cNvGrpSpPr/>
          <p:nvPr/>
        </p:nvGrpSpPr>
        <p:grpSpPr>
          <a:xfrm rot="0">
            <a:off x="1028700" y="1831242"/>
            <a:ext cx="9123357" cy="7427058"/>
            <a:chOff x="0" y="0"/>
            <a:chExt cx="2402860" cy="1956098"/>
          </a:xfrm>
        </p:grpSpPr>
        <p:sp>
          <p:nvSpPr>
            <p:cNvPr name="Freeform 3" id="3"/>
            <p:cNvSpPr/>
            <p:nvPr/>
          </p:nvSpPr>
          <p:spPr>
            <a:xfrm flipH="false" flipV="false" rot="0">
              <a:off x="0" y="0"/>
              <a:ext cx="2402860" cy="1956098"/>
            </a:xfrm>
            <a:custGeom>
              <a:avLst/>
              <a:gdLst/>
              <a:ahLst/>
              <a:cxnLst/>
              <a:rect r="r" b="b" t="t" l="l"/>
              <a:pathLst>
                <a:path h="1956098" w="2402860">
                  <a:moveTo>
                    <a:pt x="43278" y="0"/>
                  </a:moveTo>
                  <a:lnTo>
                    <a:pt x="2359582" y="0"/>
                  </a:lnTo>
                  <a:cubicBezTo>
                    <a:pt x="2383483" y="0"/>
                    <a:pt x="2402860" y="19376"/>
                    <a:pt x="2402860" y="43278"/>
                  </a:cubicBezTo>
                  <a:lnTo>
                    <a:pt x="2402860" y="1912820"/>
                  </a:lnTo>
                  <a:cubicBezTo>
                    <a:pt x="2402860" y="1936722"/>
                    <a:pt x="2383483" y="1956098"/>
                    <a:pt x="2359582" y="1956098"/>
                  </a:cubicBezTo>
                  <a:lnTo>
                    <a:pt x="43278" y="1956098"/>
                  </a:lnTo>
                  <a:cubicBezTo>
                    <a:pt x="19376" y="1956098"/>
                    <a:pt x="0" y="1936722"/>
                    <a:pt x="0" y="1912820"/>
                  </a:cubicBezTo>
                  <a:lnTo>
                    <a:pt x="0" y="43278"/>
                  </a:lnTo>
                  <a:cubicBezTo>
                    <a:pt x="0" y="19376"/>
                    <a:pt x="19376" y="0"/>
                    <a:pt x="43278" y="0"/>
                  </a:cubicBezTo>
                  <a:close/>
                </a:path>
              </a:pathLst>
            </a:custGeom>
            <a:solidFill>
              <a:srgbClr val="FFFFFF"/>
            </a:solidFill>
          </p:spPr>
        </p:sp>
        <p:sp>
          <p:nvSpPr>
            <p:cNvPr name="TextBox 4" id="4"/>
            <p:cNvSpPr txBox="true"/>
            <p:nvPr/>
          </p:nvSpPr>
          <p:spPr>
            <a:xfrm>
              <a:off x="0" y="-38100"/>
              <a:ext cx="2402860" cy="1994198"/>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947669" y="2440554"/>
            <a:ext cx="3475725" cy="6321020"/>
            <a:chOff x="0" y="0"/>
            <a:chExt cx="11289030" cy="20530443"/>
          </a:xfrm>
        </p:grpSpPr>
        <p:sp>
          <p:nvSpPr>
            <p:cNvPr name="Freeform 6" id="6"/>
            <p:cNvSpPr/>
            <p:nvPr/>
          </p:nvSpPr>
          <p:spPr>
            <a:xfrm flipH="false" flipV="false" rot="0">
              <a:off x="0" y="0"/>
              <a:ext cx="11287760" cy="20526354"/>
            </a:xfrm>
            <a:custGeom>
              <a:avLst/>
              <a:gdLst/>
              <a:ahLst/>
              <a:cxnLst/>
              <a:rect r="r" b="b" t="t" l="l"/>
              <a:pathLst>
                <a:path h="20526354" w="11287760">
                  <a:moveTo>
                    <a:pt x="0" y="18830523"/>
                  </a:moveTo>
                  <a:lnTo>
                    <a:pt x="0" y="1699921"/>
                  </a:lnTo>
                  <a:cubicBezTo>
                    <a:pt x="0" y="759626"/>
                    <a:pt x="234950" y="0"/>
                    <a:pt x="525780" y="0"/>
                  </a:cubicBezTo>
                  <a:lnTo>
                    <a:pt x="10761980" y="0"/>
                  </a:lnTo>
                  <a:cubicBezTo>
                    <a:pt x="11052810" y="0"/>
                    <a:pt x="11287760" y="759626"/>
                    <a:pt x="11287760" y="1699921"/>
                  </a:cubicBezTo>
                  <a:lnTo>
                    <a:pt x="11287760" y="18826417"/>
                  </a:lnTo>
                  <a:cubicBezTo>
                    <a:pt x="11287760" y="19766711"/>
                    <a:pt x="11052810" y="20526338"/>
                    <a:pt x="10761980" y="20526338"/>
                  </a:cubicBezTo>
                  <a:lnTo>
                    <a:pt x="525780" y="20526338"/>
                  </a:lnTo>
                  <a:cubicBezTo>
                    <a:pt x="236220" y="20530443"/>
                    <a:pt x="0" y="19770816"/>
                    <a:pt x="0" y="18830523"/>
                  </a:cubicBezTo>
                  <a:close/>
                </a:path>
              </a:pathLst>
            </a:custGeom>
            <a:blipFill>
              <a:blip r:embed="rId2"/>
              <a:stretch>
                <a:fillRect l="-20544" t="0" r="-152225" b="0"/>
              </a:stretch>
            </a:blipFill>
            <a:ln cap="sq">
              <a:noFill/>
              <a:prstDash val="solid"/>
              <a:miter/>
            </a:ln>
          </p:spPr>
        </p:sp>
      </p:grpSp>
      <p:sp>
        <p:nvSpPr>
          <p:cNvPr name="TextBox 7" id="7"/>
          <p:cNvSpPr txBox="true"/>
          <p:nvPr/>
        </p:nvSpPr>
        <p:spPr>
          <a:xfrm rot="0">
            <a:off x="5590379" y="2550551"/>
            <a:ext cx="4149716" cy="3443560"/>
          </a:xfrm>
          <a:prstGeom prst="rect">
            <a:avLst/>
          </a:prstGeom>
        </p:spPr>
        <p:txBody>
          <a:bodyPr anchor="t" rtlCol="false" tIns="0" lIns="0" bIns="0" rIns="0">
            <a:spAutoFit/>
          </a:bodyPr>
          <a:lstStyle/>
          <a:p>
            <a:pPr algn="l">
              <a:lnSpc>
                <a:spcPts val="2476"/>
              </a:lnSpc>
            </a:pPr>
            <a:r>
              <a:rPr lang="en-US" sz="1769" spc="72">
                <a:solidFill>
                  <a:srgbClr val="000000"/>
                </a:solidFill>
                <a:latin typeface="Montserrat"/>
                <a:ea typeface="Montserrat"/>
                <a:cs typeface="Montserrat"/>
                <a:sym typeface="Montserrat"/>
              </a:rPr>
              <a:t>1. What is your age?:</a:t>
            </a:r>
          </a:p>
          <a:p>
            <a:pPr algn="l">
              <a:lnSpc>
                <a:spcPts val="2476"/>
              </a:lnSpc>
            </a:pPr>
            <a:r>
              <a:rPr lang="en-US" sz="1769" spc="72">
                <a:solidFill>
                  <a:srgbClr val="000000"/>
                </a:solidFill>
                <a:latin typeface="Montserrat"/>
                <a:ea typeface="Montserrat"/>
                <a:cs typeface="Montserrat"/>
                <a:sym typeface="Montserrat"/>
              </a:rPr>
              <a:t>2. Sex</a:t>
            </a:r>
            <a:r>
              <a:rPr lang="en-US" sz="1769" spc="72" strike="noStrike" u="none">
                <a:solidFill>
                  <a:srgbClr val="000000"/>
                </a:solidFill>
                <a:latin typeface="Montserrat"/>
                <a:ea typeface="Montserrat"/>
                <a:cs typeface="Montserrat"/>
                <a:sym typeface="Montserrat"/>
              </a:rPr>
              <a:t>:</a:t>
            </a:r>
          </a:p>
          <a:p>
            <a:pPr algn="l" marL="0" indent="0" lvl="0">
              <a:lnSpc>
                <a:spcPts val="2476"/>
              </a:lnSpc>
              <a:spcBef>
                <a:spcPct val="0"/>
              </a:spcBef>
            </a:pPr>
            <a:r>
              <a:rPr lang="en-US" sz="1769" spc="72" strike="noStrike" u="none">
                <a:solidFill>
                  <a:srgbClr val="000000"/>
                </a:solidFill>
                <a:latin typeface="Montserrat"/>
                <a:ea typeface="Montserrat"/>
                <a:cs typeface="Montserrat"/>
                <a:sym typeface="Montserrat"/>
              </a:rPr>
              <a:t>3. Career on course:</a:t>
            </a:r>
          </a:p>
          <a:p>
            <a:pPr algn="l" marL="0" indent="0" lvl="0">
              <a:lnSpc>
                <a:spcPts val="2476"/>
              </a:lnSpc>
              <a:spcBef>
                <a:spcPct val="0"/>
              </a:spcBef>
            </a:pPr>
            <a:r>
              <a:rPr lang="en-US" sz="1769" spc="72" strike="noStrike" u="none">
                <a:solidFill>
                  <a:srgbClr val="000000"/>
                </a:solidFill>
                <a:latin typeface="Montserrat"/>
                <a:ea typeface="Montserrat"/>
                <a:cs typeface="Montserrat"/>
                <a:sym typeface="Montserrat"/>
              </a:rPr>
              <a:t>4. Actual period:</a:t>
            </a:r>
          </a:p>
          <a:p>
            <a:pPr algn="l">
              <a:lnSpc>
                <a:spcPts val="2476"/>
              </a:lnSpc>
              <a:spcBef>
                <a:spcPct val="0"/>
              </a:spcBef>
            </a:pPr>
            <a:r>
              <a:rPr lang="en-US" sz="1769" spc="72" strike="noStrike" u="none">
                <a:solidFill>
                  <a:srgbClr val="000000"/>
                </a:solidFill>
                <a:latin typeface="Montserrat"/>
                <a:ea typeface="Montserrat"/>
                <a:cs typeface="Montserrat"/>
                <a:sym typeface="Montserrat"/>
              </a:rPr>
              <a:t>5. Do you have a job?</a:t>
            </a:r>
          </a:p>
          <a:p>
            <a:pPr algn="l" marL="0" indent="0" lvl="0">
              <a:lnSpc>
                <a:spcPts val="2476"/>
              </a:lnSpc>
              <a:spcBef>
                <a:spcPct val="0"/>
              </a:spcBef>
            </a:pPr>
            <a:r>
              <a:rPr lang="en-US" sz="1769" spc="72" strike="noStrike" u="none">
                <a:solidFill>
                  <a:srgbClr val="000000"/>
                </a:solidFill>
                <a:latin typeface="Montserrat"/>
                <a:ea typeface="Montserrat"/>
                <a:cs typeface="Montserrat"/>
                <a:sym typeface="Montserrat"/>
              </a:rPr>
              <a:t>6. Have you experience burnout or similar episodes before?</a:t>
            </a:r>
          </a:p>
          <a:p>
            <a:pPr algn="l" marL="0" indent="0" lvl="0">
              <a:lnSpc>
                <a:spcPts val="2476"/>
              </a:lnSpc>
              <a:spcBef>
                <a:spcPct val="0"/>
              </a:spcBef>
            </a:pPr>
            <a:r>
              <a:rPr lang="en-US" sz="1769" spc="72" strike="noStrike" u="none">
                <a:solidFill>
                  <a:srgbClr val="000000"/>
                </a:solidFill>
                <a:latin typeface="Montserrat"/>
                <a:ea typeface="Montserrat"/>
                <a:cs typeface="Montserrat"/>
                <a:sym typeface="Montserrat"/>
              </a:rPr>
              <a:t>7. Do you go to psychiatric treatment?</a:t>
            </a:r>
          </a:p>
          <a:p>
            <a:pPr algn="l" marL="0" indent="0" lvl="0">
              <a:lnSpc>
                <a:spcPts val="2476"/>
              </a:lnSpc>
              <a:spcBef>
                <a:spcPct val="0"/>
              </a:spcBef>
            </a:pPr>
            <a:r>
              <a:rPr lang="en-US" sz="1769" spc="72" strike="noStrike" u="none">
                <a:solidFill>
                  <a:srgbClr val="000000"/>
                </a:solidFill>
                <a:latin typeface="Montserrat"/>
                <a:ea typeface="Montserrat"/>
                <a:cs typeface="Montserrat"/>
                <a:sym typeface="Montserrat"/>
              </a:rPr>
              <a:t>8</a:t>
            </a:r>
            <a:r>
              <a:rPr lang="en-US" sz="1769" spc="72" strike="noStrike" u="none">
                <a:solidFill>
                  <a:srgbClr val="000000"/>
                </a:solidFill>
                <a:latin typeface="Montserrat"/>
                <a:ea typeface="Montserrat"/>
                <a:cs typeface="Montserrat"/>
                <a:sym typeface="Montserrat"/>
              </a:rPr>
              <a:t>. Do you assist to psychological treatement?</a:t>
            </a:r>
          </a:p>
        </p:txBody>
      </p:sp>
      <p:sp>
        <p:nvSpPr>
          <p:cNvPr name="TextBox 8" id="8"/>
          <p:cNvSpPr txBox="true"/>
          <p:nvPr/>
        </p:nvSpPr>
        <p:spPr>
          <a:xfrm rot="0">
            <a:off x="1028700" y="1123950"/>
            <a:ext cx="10406712" cy="508635"/>
          </a:xfrm>
          <a:prstGeom prst="rect">
            <a:avLst/>
          </a:prstGeom>
        </p:spPr>
        <p:txBody>
          <a:bodyPr anchor="t" rtlCol="false" tIns="0" lIns="0" bIns="0" rIns="0">
            <a:spAutoFit/>
          </a:bodyPr>
          <a:lstStyle/>
          <a:p>
            <a:pPr algn="l" marL="0" indent="0" lvl="0">
              <a:lnSpc>
                <a:spcPts val="3719"/>
              </a:lnSpc>
              <a:spcBef>
                <a:spcPct val="0"/>
              </a:spcBef>
            </a:pPr>
            <a:r>
              <a:rPr lang="en-US" sz="3999">
                <a:solidFill>
                  <a:srgbClr val="000000"/>
                </a:solidFill>
                <a:latin typeface="Alice"/>
                <a:ea typeface="Alice"/>
                <a:cs typeface="Alice"/>
                <a:sym typeface="Alice"/>
              </a:rPr>
              <a:t>General data</a:t>
            </a:r>
          </a:p>
        </p:txBody>
      </p:sp>
      <p:sp>
        <p:nvSpPr>
          <p:cNvPr name="Freeform 9" id="9"/>
          <p:cNvSpPr/>
          <p:nvPr/>
        </p:nvSpPr>
        <p:spPr>
          <a:xfrm flipH="false" flipV="false" rot="0">
            <a:off x="10407241" y="2327968"/>
            <a:ext cx="7535702" cy="6433606"/>
          </a:xfrm>
          <a:custGeom>
            <a:avLst/>
            <a:gdLst/>
            <a:ahLst/>
            <a:cxnLst/>
            <a:rect r="r" b="b" t="t" l="l"/>
            <a:pathLst>
              <a:path h="6433606" w="7535702">
                <a:moveTo>
                  <a:pt x="0" y="0"/>
                </a:moveTo>
                <a:lnTo>
                  <a:pt x="7535702" y="0"/>
                </a:lnTo>
                <a:lnTo>
                  <a:pt x="7535702" y="6433606"/>
                </a:lnTo>
                <a:lnTo>
                  <a:pt x="0" y="6433606"/>
                </a:lnTo>
                <a:lnTo>
                  <a:pt x="0" y="0"/>
                </a:lnTo>
                <a:close/>
              </a:path>
            </a:pathLst>
          </a:custGeom>
          <a:blipFill>
            <a:blip r:embed="rId3"/>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6EEFD"/>
        </a:solidFill>
      </p:bgPr>
    </p:bg>
    <p:spTree>
      <p:nvGrpSpPr>
        <p:cNvPr id="1" name=""/>
        <p:cNvGrpSpPr/>
        <p:nvPr/>
      </p:nvGrpSpPr>
      <p:grpSpPr>
        <a:xfrm>
          <a:off x="0" y="0"/>
          <a:ext cx="0" cy="0"/>
          <a:chOff x="0" y="0"/>
          <a:chExt cx="0" cy="0"/>
        </a:xfrm>
      </p:grpSpPr>
      <p:sp>
        <p:nvSpPr>
          <p:cNvPr name="TextBox 2" id="2"/>
          <p:cNvSpPr txBox="true"/>
          <p:nvPr/>
        </p:nvSpPr>
        <p:spPr>
          <a:xfrm rot="0">
            <a:off x="1028700" y="1123950"/>
            <a:ext cx="10406712" cy="508635"/>
          </a:xfrm>
          <a:prstGeom prst="rect">
            <a:avLst/>
          </a:prstGeom>
        </p:spPr>
        <p:txBody>
          <a:bodyPr anchor="t" rtlCol="false" tIns="0" lIns="0" bIns="0" rIns="0">
            <a:spAutoFit/>
          </a:bodyPr>
          <a:lstStyle/>
          <a:p>
            <a:pPr algn="l" marL="0" indent="0" lvl="0">
              <a:lnSpc>
                <a:spcPts val="3719"/>
              </a:lnSpc>
              <a:spcBef>
                <a:spcPct val="0"/>
              </a:spcBef>
            </a:pPr>
            <a:r>
              <a:rPr lang="en-US" sz="3999">
                <a:solidFill>
                  <a:srgbClr val="000000"/>
                </a:solidFill>
                <a:latin typeface="Alice"/>
                <a:ea typeface="Alice"/>
                <a:cs typeface="Alice"/>
                <a:sym typeface="Alice"/>
              </a:rPr>
              <a:t>Main variables</a:t>
            </a:r>
          </a:p>
        </p:txBody>
      </p:sp>
      <p:grpSp>
        <p:nvGrpSpPr>
          <p:cNvPr name="Group 3" id="3"/>
          <p:cNvGrpSpPr/>
          <p:nvPr/>
        </p:nvGrpSpPr>
        <p:grpSpPr>
          <a:xfrm rot="0">
            <a:off x="7735932" y="2297762"/>
            <a:ext cx="10096575" cy="7427058"/>
            <a:chOff x="0" y="0"/>
            <a:chExt cx="2659180" cy="1956098"/>
          </a:xfrm>
        </p:grpSpPr>
        <p:sp>
          <p:nvSpPr>
            <p:cNvPr name="Freeform 4" id="4"/>
            <p:cNvSpPr/>
            <p:nvPr/>
          </p:nvSpPr>
          <p:spPr>
            <a:xfrm flipH="false" flipV="false" rot="0">
              <a:off x="0" y="0"/>
              <a:ext cx="2659180" cy="1956098"/>
            </a:xfrm>
            <a:custGeom>
              <a:avLst/>
              <a:gdLst/>
              <a:ahLst/>
              <a:cxnLst/>
              <a:rect r="r" b="b" t="t" l="l"/>
              <a:pathLst>
                <a:path h="1956098" w="2659180">
                  <a:moveTo>
                    <a:pt x="39106" y="0"/>
                  </a:moveTo>
                  <a:lnTo>
                    <a:pt x="2620074" y="0"/>
                  </a:lnTo>
                  <a:cubicBezTo>
                    <a:pt x="2641672" y="0"/>
                    <a:pt x="2659180" y="17508"/>
                    <a:pt x="2659180" y="39106"/>
                  </a:cubicBezTo>
                  <a:lnTo>
                    <a:pt x="2659180" y="1916992"/>
                  </a:lnTo>
                  <a:cubicBezTo>
                    <a:pt x="2659180" y="1938589"/>
                    <a:pt x="2641672" y="1956098"/>
                    <a:pt x="2620074" y="1956098"/>
                  </a:cubicBezTo>
                  <a:lnTo>
                    <a:pt x="39106" y="1956098"/>
                  </a:lnTo>
                  <a:cubicBezTo>
                    <a:pt x="17508" y="1956098"/>
                    <a:pt x="0" y="1938589"/>
                    <a:pt x="0" y="1916992"/>
                  </a:cubicBezTo>
                  <a:lnTo>
                    <a:pt x="0" y="39106"/>
                  </a:lnTo>
                  <a:cubicBezTo>
                    <a:pt x="0" y="17508"/>
                    <a:pt x="17508" y="0"/>
                    <a:pt x="39106" y="0"/>
                  </a:cubicBezTo>
                  <a:close/>
                </a:path>
              </a:pathLst>
            </a:custGeom>
            <a:solidFill>
              <a:srgbClr val="FFFFFF"/>
            </a:solidFill>
          </p:spPr>
        </p:sp>
        <p:sp>
          <p:nvSpPr>
            <p:cNvPr name="TextBox 5" id="5"/>
            <p:cNvSpPr txBox="true"/>
            <p:nvPr/>
          </p:nvSpPr>
          <p:spPr>
            <a:xfrm>
              <a:off x="0" y="-38100"/>
              <a:ext cx="2659180" cy="1994198"/>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8171971" y="2522322"/>
            <a:ext cx="3468752" cy="1603957"/>
            <a:chOff x="0" y="0"/>
            <a:chExt cx="11289030" cy="5220068"/>
          </a:xfrm>
        </p:grpSpPr>
        <p:sp>
          <p:nvSpPr>
            <p:cNvPr name="Freeform 7" id="7"/>
            <p:cNvSpPr/>
            <p:nvPr/>
          </p:nvSpPr>
          <p:spPr>
            <a:xfrm flipH="false" flipV="false" rot="0">
              <a:off x="0" y="0"/>
              <a:ext cx="11287760" cy="5219029"/>
            </a:xfrm>
            <a:custGeom>
              <a:avLst/>
              <a:gdLst/>
              <a:ahLst/>
              <a:cxnLst/>
              <a:rect r="r" b="b" t="t" l="l"/>
              <a:pathLst>
                <a:path h="5219029" w="11287760">
                  <a:moveTo>
                    <a:pt x="0" y="4787847"/>
                  </a:moveTo>
                  <a:lnTo>
                    <a:pt x="0" y="432222"/>
                  </a:lnTo>
                  <a:cubicBezTo>
                    <a:pt x="0" y="193143"/>
                    <a:pt x="234950" y="0"/>
                    <a:pt x="525780" y="0"/>
                  </a:cubicBezTo>
                  <a:lnTo>
                    <a:pt x="10761980" y="0"/>
                  </a:lnTo>
                  <a:cubicBezTo>
                    <a:pt x="11052810" y="0"/>
                    <a:pt x="11287760" y="193143"/>
                    <a:pt x="11287760" y="432222"/>
                  </a:cubicBezTo>
                  <a:lnTo>
                    <a:pt x="11287760" y="4786802"/>
                  </a:lnTo>
                  <a:cubicBezTo>
                    <a:pt x="11287760" y="5025882"/>
                    <a:pt x="11052810" y="5219024"/>
                    <a:pt x="10761980" y="5219024"/>
                  </a:cubicBezTo>
                  <a:lnTo>
                    <a:pt x="525780" y="5219024"/>
                  </a:lnTo>
                  <a:cubicBezTo>
                    <a:pt x="236220" y="5220068"/>
                    <a:pt x="0" y="5026926"/>
                    <a:pt x="0" y="4787847"/>
                  </a:cubicBezTo>
                  <a:close/>
                </a:path>
              </a:pathLst>
            </a:custGeom>
            <a:blipFill>
              <a:blip r:embed="rId2"/>
              <a:stretch>
                <a:fillRect l="0" t="-22048" r="0" b="-22048"/>
              </a:stretch>
            </a:blipFill>
            <a:ln cap="sq">
              <a:noFill/>
              <a:prstDash val="solid"/>
              <a:miter/>
            </a:ln>
          </p:spPr>
        </p:sp>
      </p:grpSp>
      <p:grpSp>
        <p:nvGrpSpPr>
          <p:cNvPr name="Group 8" id="8"/>
          <p:cNvGrpSpPr/>
          <p:nvPr/>
        </p:nvGrpSpPr>
        <p:grpSpPr>
          <a:xfrm rot="0">
            <a:off x="8171971" y="4519771"/>
            <a:ext cx="3468752" cy="1379382"/>
            <a:chOff x="0" y="0"/>
            <a:chExt cx="11289030" cy="4489188"/>
          </a:xfrm>
        </p:grpSpPr>
        <p:sp>
          <p:nvSpPr>
            <p:cNvPr name="Freeform 9" id="9"/>
            <p:cNvSpPr/>
            <p:nvPr/>
          </p:nvSpPr>
          <p:spPr>
            <a:xfrm flipH="false" flipV="false" rot="0">
              <a:off x="0" y="0"/>
              <a:ext cx="11287760" cy="4488294"/>
            </a:xfrm>
            <a:custGeom>
              <a:avLst/>
              <a:gdLst/>
              <a:ahLst/>
              <a:cxnLst/>
              <a:rect r="r" b="b" t="t" l="l"/>
              <a:pathLst>
                <a:path h="4488294" w="11287760">
                  <a:moveTo>
                    <a:pt x="0" y="4117484"/>
                  </a:moveTo>
                  <a:lnTo>
                    <a:pt x="0" y="371705"/>
                  </a:lnTo>
                  <a:cubicBezTo>
                    <a:pt x="0" y="166100"/>
                    <a:pt x="234950" y="0"/>
                    <a:pt x="525780" y="0"/>
                  </a:cubicBezTo>
                  <a:lnTo>
                    <a:pt x="10761980" y="0"/>
                  </a:lnTo>
                  <a:cubicBezTo>
                    <a:pt x="11052810" y="0"/>
                    <a:pt x="11287760" y="166100"/>
                    <a:pt x="11287760" y="371705"/>
                  </a:cubicBezTo>
                  <a:lnTo>
                    <a:pt x="11287760" y="4116586"/>
                  </a:lnTo>
                  <a:cubicBezTo>
                    <a:pt x="11287760" y="4322190"/>
                    <a:pt x="11052810" y="4488291"/>
                    <a:pt x="10761980" y="4488291"/>
                  </a:cubicBezTo>
                  <a:lnTo>
                    <a:pt x="525780" y="4488291"/>
                  </a:lnTo>
                  <a:cubicBezTo>
                    <a:pt x="236220" y="4489188"/>
                    <a:pt x="0" y="4323088"/>
                    <a:pt x="0" y="4117484"/>
                  </a:cubicBezTo>
                  <a:close/>
                </a:path>
              </a:pathLst>
            </a:custGeom>
            <a:blipFill>
              <a:blip r:embed="rId3"/>
              <a:stretch>
                <a:fillRect l="0" t="-3814" r="0" b="-64000"/>
              </a:stretch>
            </a:blipFill>
            <a:ln cap="sq">
              <a:noFill/>
              <a:prstDash val="solid"/>
              <a:miter/>
            </a:ln>
          </p:spPr>
        </p:sp>
      </p:grpSp>
      <p:grpSp>
        <p:nvGrpSpPr>
          <p:cNvPr name="Group 10" id="10"/>
          <p:cNvGrpSpPr/>
          <p:nvPr/>
        </p:nvGrpSpPr>
        <p:grpSpPr>
          <a:xfrm rot="0">
            <a:off x="8171971" y="8088160"/>
            <a:ext cx="3468752" cy="1339281"/>
            <a:chOff x="0" y="0"/>
            <a:chExt cx="11289030" cy="4358682"/>
          </a:xfrm>
        </p:grpSpPr>
        <p:sp>
          <p:nvSpPr>
            <p:cNvPr name="Freeform 11" id="11"/>
            <p:cNvSpPr/>
            <p:nvPr/>
          </p:nvSpPr>
          <p:spPr>
            <a:xfrm flipH="false" flipV="false" rot="0">
              <a:off x="0" y="0"/>
              <a:ext cx="11287760" cy="4357814"/>
            </a:xfrm>
            <a:custGeom>
              <a:avLst/>
              <a:gdLst/>
              <a:ahLst/>
              <a:cxnLst/>
              <a:rect r="r" b="b" t="t" l="l"/>
              <a:pathLst>
                <a:path h="4357814" w="11287760">
                  <a:moveTo>
                    <a:pt x="0" y="3997783"/>
                  </a:moveTo>
                  <a:lnTo>
                    <a:pt x="0" y="360899"/>
                  </a:lnTo>
                  <a:cubicBezTo>
                    <a:pt x="0" y="161271"/>
                    <a:pt x="234950" y="0"/>
                    <a:pt x="525780" y="0"/>
                  </a:cubicBezTo>
                  <a:lnTo>
                    <a:pt x="10761980" y="0"/>
                  </a:lnTo>
                  <a:cubicBezTo>
                    <a:pt x="11052810" y="0"/>
                    <a:pt x="11287760" y="161271"/>
                    <a:pt x="11287760" y="360899"/>
                  </a:cubicBezTo>
                  <a:lnTo>
                    <a:pt x="11287760" y="3996911"/>
                  </a:lnTo>
                  <a:cubicBezTo>
                    <a:pt x="11287760" y="4196539"/>
                    <a:pt x="11052810" y="4357810"/>
                    <a:pt x="10761980" y="4357810"/>
                  </a:cubicBezTo>
                  <a:lnTo>
                    <a:pt x="525780" y="4357810"/>
                  </a:lnTo>
                  <a:cubicBezTo>
                    <a:pt x="236220" y="4358682"/>
                    <a:pt x="0" y="4197410"/>
                    <a:pt x="0" y="3997783"/>
                  </a:cubicBezTo>
                  <a:close/>
                </a:path>
              </a:pathLst>
            </a:custGeom>
            <a:blipFill>
              <a:blip r:embed="rId4"/>
              <a:stretch>
                <a:fillRect l="0" t="0" r="0" b="-75194"/>
              </a:stretch>
            </a:blipFill>
            <a:ln cap="sq">
              <a:noFill/>
              <a:prstDash val="solid"/>
              <a:miter/>
            </a:ln>
          </p:spPr>
        </p:sp>
      </p:grpSp>
      <p:grpSp>
        <p:nvGrpSpPr>
          <p:cNvPr name="Group 12" id="12"/>
          <p:cNvGrpSpPr/>
          <p:nvPr/>
        </p:nvGrpSpPr>
        <p:grpSpPr>
          <a:xfrm rot="0">
            <a:off x="12021724" y="2597211"/>
            <a:ext cx="4485703" cy="1262369"/>
            <a:chOff x="0" y="0"/>
            <a:chExt cx="5980937" cy="1683158"/>
          </a:xfrm>
        </p:grpSpPr>
        <p:sp>
          <p:nvSpPr>
            <p:cNvPr name="TextBox 13" id="13"/>
            <p:cNvSpPr txBox="true"/>
            <p:nvPr/>
          </p:nvSpPr>
          <p:spPr>
            <a:xfrm rot="0">
              <a:off x="0" y="629058"/>
              <a:ext cx="5980937" cy="1054100"/>
            </a:xfrm>
            <a:prstGeom prst="rect">
              <a:avLst/>
            </a:prstGeom>
          </p:spPr>
          <p:txBody>
            <a:bodyPr anchor="t" rtlCol="false" tIns="0" lIns="0" bIns="0" rIns="0">
              <a:spAutoFit/>
            </a:bodyPr>
            <a:lstStyle/>
            <a:p>
              <a:pPr algn="l" marL="323850" indent="-161925" lvl="1">
                <a:lnSpc>
                  <a:spcPts val="2100"/>
                </a:lnSpc>
                <a:buFont typeface="Arial"/>
                <a:buChar char="•"/>
              </a:pPr>
              <a:r>
                <a:rPr lang="en-US" sz="1500" spc="61">
                  <a:solidFill>
                    <a:srgbClr val="000000"/>
                  </a:solidFill>
                  <a:latin typeface="Montserrat"/>
                  <a:ea typeface="Montserrat"/>
                  <a:cs typeface="Montserrat"/>
                  <a:sym typeface="Montserrat"/>
                </a:rPr>
                <a:t>How many sleeping hours do you have?</a:t>
              </a:r>
            </a:p>
            <a:p>
              <a:pPr algn="l" marL="323850" indent="-161925" lvl="1">
                <a:lnSpc>
                  <a:spcPts val="2100"/>
                </a:lnSpc>
                <a:spcBef>
                  <a:spcPct val="0"/>
                </a:spcBef>
                <a:buFont typeface="Arial"/>
                <a:buChar char="•"/>
              </a:pPr>
              <a:r>
                <a:rPr lang="en-US" sz="1500" spc="61">
                  <a:solidFill>
                    <a:srgbClr val="000000"/>
                  </a:solidFill>
                  <a:latin typeface="Montserrat"/>
                  <a:ea typeface="Montserrat"/>
                  <a:cs typeface="Montserrat"/>
                  <a:sym typeface="Montserrat"/>
                </a:rPr>
                <a:t>How would you qualify the sleeping quality?</a:t>
              </a:r>
            </a:p>
          </p:txBody>
        </p:sp>
        <p:sp>
          <p:nvSpPr>
            <p:cNvPr name="TextBox 14" id="14"/>
            <p:cNvSpPr txBox="true"/>
            <p:nvPr/>
          </p:nvSpPr>
          <p:spPr>
            <a:xfrm rot="0">
              <a:off x="0" y="9525"/>
              <a:ext cx="5980937" cy="475615"/>
            </a:xfrm>
            <a:prstGeom prst="rect">
              <a:avLst/>
            </a:prstGeom>
          </p:spPr>
          <p:txBody>
            <a:bodyPr anchor="t" rtlCol="false" tIns="0" lIns="0" bIns="0" rIns="0">
              <a:spAutoFit/>
            </a:bodyPr>
            <a:lstStyle/>
            <a:p>
              <a:pPr algn="l" marL="0" indent="0" lvl="0">
                <a:lnSpc>
                  <a:spcPts val="2640"/>
                </a:lnSpc>
                <a:spcBef>
                  <a:spcPct val="0"/>
                </a:spcBef>
              </a:pPr>
              <a:r>
                <a:rPr lang="en-US" sz="2400">
                  <a:solidFill>
                    <a:srgbClr val="000000"/>
                  </a:solidFill>
                  <a:latin typeface="Alice"/>
                  <a:ea typeface="Alice"/>
                  <a:cs typeface="Alice"/>
                  <a:sym typeface="Alice"/>
                </a:rPr>
                <a:t>Sleeping</a:t>
              </a:r>
            </a:p>
          </p:txBody>
        </p:sp>
      </p:grpSp>
      <p:grpSp>
        <p:nvGrpSpPr>
          <p:cNvPr name="Group 15" id="15"/>
          <p:cNvGrpSpPr/>
          <p:nvPr/>
        </p:nvGrpSpPr>
        <p:grpSpPr>
          <a:xfrm rot="0">
            <a:off x="12021724" y="5948581"/>
            <a:ext cx="4485703" cy="2062469"/>
            <a:chOff x="0" y="0"/>
            <a:chExt cx="5980937" cy="2749958"/>
          </a:xfrm>
        </p:grpSpPr>
        <p:sp>
          <p:nvSpPr>
            <p:cNvPr name="TextBox 16" id="16"/>
            <p:cNvSpPr txBox="true"/>
            <p:nvPr/>
          </p:nvSpPr>
          <p:spPr>
            <a:xfrm rot="0">
              <a:off x="0" y="629058"/>
              <a:ext cx="5980937" cy="2120900"/>
            </a:xfrm>
            <a:prstGeom prst="rect">
              <a:avLst/>
            </a:prstGeom>
          </p:spPr>
          <p:txBody>
            <a:bodyPr anchor="t" rtlCol="false" tIns="0" lIns="0" bIns="0" rIns="0">
              <a:spAutoFit/>
            </a:bodyPr>
            <a:lstStyle/>
            <a:p>
              <a:pPr algn="l" marL="323850" indent="-161925" lvl="1">
                <a:lnSpc>
                  <a:spcPts val="2100"/>
                </a:lnSpc>
                <a:buFont typeface="Arial"/>
                <a:buChar char="•"/>
              </a:pPr>
              <a:r>
                <a:rPr lang="en-US" sz="1500" spc="61">
                  <a:solidFill>
                    <a:srgbClr val="000000"/>
                  </a:solidFill>
                  <a:latin typeface="Montserrat"/>
                  <a:ea typeface="Montserrat"/>
                  <a:cs typeface="Montserrat"/>
                  <a:sym typeface="Montserrat"/>
                </a:rPr>
                <a:t>How many hours did you used technology of your free time?</a:t>
              </a:r>
            </a:p>
            <a:p>
              <a:pPr algn="l" marL="323850" indent="-161925" lvl="1">
                <a:lnSpc>
                  <a:spcPts val="2100"/>
                </a:lnSpc>
                <a:buFont typeface="Arial"/>
                <a:buChar char="•"/>
              </a:pPr>
              <a:r>
                <a:rPr lang="en-US" sz="1500" spc="61">
                  <a:solidFill>
                    <a:srgbClr val="000000"/>
                  </a:solidFill>
                  <a:latin typeface="Montserrat"/>
                  <a:ea typeface="Montserrat"/>
                  <a:cs typeface="Montserrat"/>
                  <a:sym typeface="Montserrat"/>
                </a:rPr>
                <a:t>How would you qualify the tech quality usage?</a:t>
              </a:r>
            </a:p>
            <a:p>
              <a:pPr algn="l" marL="323850" indent="-161925" lvl="1">
                <a:lnSpc>
                  <a:spcPts val="2100"/>
                </a:lnSpc>
                <a:buFont typeface="Arial"/>
                <a:buChar char="•"/>
              </a:pPr>
              <a:r>
                <a:rPr lang="en-US" sz="1500" spc="61">
                  <a:solidFill>
                    <a:srgbClr val="000000"/>
                  </a:solidFill>
                  <a:latin typeface="Montserrat"/>
                  <a:ea typeface="Montserrat"/>
                  <a:cs typeface="Montserrat"/>
                  <a:sym typeface="Montserrat"/>
                </a:rPr>
                <a:t>Did you use AI today?</a:t>
              </a:r>
            </a:p>
            <a:p>
              <a:pPr algn="l" marL="323850" indent="-161925" lvl="1">
                <a:lnSpc>
                  <a:spcPts val="2100"/>
                </a:lnSpc>
                <a:spcBef>
                  <a:spcPct val="0"/>
                </a:spcBef>
                <a:buFont typeface="Arial"/>
                <a:buChar char="•"/>
              </a:pPr>
              <a:r>
                <a:rPr lang="en-US" sz="1500" spc="61">
                  <a:solidFill>
                    <a:srgbClr val="000000"/>
                  </a:solidFill>
                  <a:latin typeface="Montserrat"/>
                  <a:ea typeface="Montserrat"/>
                  <a:cs typeface="Montserrat"/>
                  <a:sym typeface="Montserrat"/>
                </a:rPr>
                <a:t>How did you use it?</a:t>
              </a:r>
            </a:p>
          </p:txBody>
        </p:sp>
        <p:sp>
          <p:nvSpPr>
            <p:cNvPr name="TextBox 17" id="17"/>
            <p:cNvSpPr txBox="true"/>
            <p:nvPr/>
          </p:nvSpPr>
          <p:spPr>
            <a:xfrm rot="0">
              <a:off x="0" y="9525"/>
              <a:ext cx="5980937" cy="475615"/>
            </a:xfrm>
            <a:prstGeom prst="rect">
              <a:avLst/>
            </a:prstGeom>
          </p:spPr>
          <p:txBody>
            <a:bodyPr anchor="t" rtlCol="false" tIns="0" lIns="0" bIns="0" rIns="0">
              <a:spAutoFit/>
            </a:bodyPr>
            <a:lstStyle/>
            <a:p>
              <a:pPr algn="l" marL="0" indent="0" lvl="0">
                <a:lnSpc>
                  <a:spcPts val="2640"/>
                </a:lnSpc>
                <a:spcBef>
                  <a:spcPct val="0"/>
                </a:spcBef>
              </a:pPr>
              <a:r>
                <a:rPr lang="en-US" sz="2400">
                  <a:solidFill>
                    <a:srgbClr val="000000"/>
                  </a:solidFill>
                  <a:latin typeface="Alice"/>
                  <a:ea typeface="Alice"/>
                  <a:cs typeface="Alice"/>
                  <a:sym typeface="Alice"/>
                </a:rPr>
                <a:t>Technology</a:t>
              </a:r>
            </a:p>
          </p:txBody>
        </p:sp>
      </p:grpSp>
      <p:grpSp>
        <p:nvGrpSpPr>
          <p:cNvPr name="Group 18" id="18"/>
          <p:cNvGrpSpPr/>
          <p:nvPr/>
        </p:nvGrpSpPr>
        <p:grpSpPr>
          <a:xfrm rot="0">
            <a:off x="12021724" y="4103384"/>
            <a:ext cx="4485703" cy="1262369"/>
            <a:chOff x="0" y="0"/>
            <a:chExt cx="5980937" cy="1683158"/>
          </a:xfrm>
        </p:grpSpPr>
        <p:sp>
          <p:nvSpPr>
            <p:cNvPr name="TextBox 19" id="19"/>
            <p:cNvSpPr txBox="true"/>
            <p:nvPr/>
          </p:nvSpPr>
          <p:spPr>
            <a:xfrm rot="0">
              <a:off x="0" y="629058"/>
              <a:ext cx="5980937" cy="1054100"/>
            </a:xfrm>
            <a:prstGeom prst="rect">
              <a:avLst/>
            </a:prstGeom>
          </p:spPr>
          <p:txBody>
            <a:bodyPr anchor="t" rtlCol="false" tIns="0" lIns="0" bIns="0" rIns="0">
              <a:spAutoFit/>
            </a:bodyPr>
            <a:lstStyle/>
            <a:p>
              <a:pPr algn="l" marL="323850" indent="-161925" lvl="1">
                <a:lnSpc>
                  <a:spcPts val="2100"/>
                </a:lnSpc>
                <a:buFont typeface="Arial"/>
                <a:buChar char="•"/>
              </a:pPr>
              <a:r>
                <a:rPr lang="en-US" sz="1500" spc="61">
                  <a:solidFill>
                    <a:srgbClr val="000000"/>
                  </a:solidFill>
                  <a:latin typeface="Montserrat"/>
                  <a:ea typeface="Montserrat"/>
                  <a:cs typeface="Montserrat"/>
                  <a:sym typeface="Montserrat"/>
                </a:rPr>
                <a:t>How many meals did you got today?</a:t>
              </a:r>
            </a:p>
            <a:p>
              <a:pPr algn="l" marL="323850" indent="-161925" lvl="1">
                <a:lnSpc>
                  <a:spcPts val="2100"/>
                </a:lnSpc>
                <a:buFont typeface="Arial"/>
                <a:buChar char="•"/>
              </a:pPr>
              <a:r>
                <a:rPr lang="en-US" sz="1500" spc="61">
                  <a:solidFill>
                    <a:srgbClr val="000000"/>
                  </a:solidFill>
                  <a:latin typeface="Montserrat"/>
                  <a:ea typeface="Montserrat"/>
                  <a:cs typeface="Montserrat"/>
                  <a:sym typeface="Montserrat"/>
                </a:rPr>
                <a:t>How would you qualify your  meals (in terms of feel good)?</a:t>
              </a:r>
            </a:p>
          </p:txBody>
        </p:sp>
        <p:sp>
          <p:nvSpPr>
            <p:cNvPr name="TextBox 20" id="20"/>
            <p:cNvSpPr txBox="true"/>
            <p:nvPr/>
          </p:nvSpPr>
          <p:spPr>
            <a:xfrm rot="0">
              <a:off x="0" y="9525"/>
              <a:ext cx="5980937" cy="475615"/>
            </a:xfrm>
            <a:prstGeom prst="rect">
              <a:avLst/>
            </a:prstGeom>
          </p:spPr>
          <p:txBody>
            <a:bodyPr anchor="t" rtlCol="false" tIns="0" lIns="0" bIns="0" rIns="0">
              <a:spAutoFit/>
            </a:bodyPr>
            <a:lstStyle/>
            <a:p>
              <a:pPr algn="l" marL="0" indent="0" lvl="0">
                <a:lnSpc>
                  <a:spcPts val="2640"/>
                </a:lnSpc>
                <a:spcBef>
                  <a:spcPct val="0"/>
                </a:spcBef>
              </a:pPr>
              <a:r>
                <a:rPr lang="en-US" sz="2400">
                  <a:solidFill>
                    <a:srgbClr val="000000"/>
                  </a:solidFill>
                  <a:latin typeface="Alice"/>
                  <a:ea typeface="Alice"/>
                  <a:cs typeface="Alice"/>
                  <a:sym typeface="Alice"/>
                </a:rPr>
                <a:t>Eating</a:t>
              </a:r>
            </a:p>
          </p:txBody>
        </p:sp>
      </p:grpSp>
      <p:grpSp>
        <p:nvGrpSpPr>
          <p:cNvPr name="Group 21" id="21"/>
          <p:cNvGrpSpPr/>
          <p:nvPr/>
        </p:nvGrpSpPr>
        <p:grpSpPr>
          <a:xfrm rot="0">
            <a:off x="8171971" y="6289678"/>
            <a:ext cx="3468752" cy="1379382"/>
            <a:chOff x="0" y="0"/>
            <a:chExt cx="11289030" cy="4489188"/>
          </a:xfrm>
        </p:grpSpPr>
        <p:sp>
          <p:nvSpPr>
            <p:cNvPr name="Freeform 22" id="22"/>
            <p:cNvSpPr/>
            <p:nvPr/>
          </p:nvSpPr>
          <p:spPr>
            <a:xfrm flipH="false" flipV="false" rot="0">
              <a:off x="0" y="0"/>
              <a:ext cx="11287760" cy="4488294"/>
            </a:xfrm>
            <a:custGeom>
              <a:avLst/>
              <a:gdLst/>
              <a:ahLst/>
              <a:cxnLst/>
              <a:rect r="r" b="b" t="t" l="l"/>
              <a:pathLst>
                <a:path h="4488294" w="11287760">
                  <a:moveTo>
                    <a:pt x="0" y="4117484"/>
                  </a:moveTo>
                  <a:lnTo>
                    <a:pt x="0" y="371705"/>
                  </a:lnTo>
                  <a:cubicBezTo>
                    <a:pt x="0" y="166100"/>
                    <a:pt x="234950" y="0"/>
                    <a:pt x="525780" y="0"/>
                  </a:cubicBezTo>
                  <a:lnTo>
                    <a:pt x="10761980" y="0"/>
                  </a:lnTo>
                  <a:cubicBezTo>
                    <a:pt x="11052810" y="0"/>
                    <a:pt x="11287760" y="166100"/>
                    <a:pt x="11287760" y="371705"/>
                  </a:cubicBezTo>
                  <a:lnTo>
                    <a:pt x="11287760" y="4116586"/>
                  </a:lnTo>
                  <a:cubicBezTo>
                    <a:pt x="11287760" y="4322190"/>
                    <a:pt x="11052810" y="4488291"/>
                    <a:pt x="10761980" y="4488291"/>
                  </a:cubicBezTo>
                  <a:lnTo>
                    <a:pt x="525780" y="4488291"/>
                  </a:lnTo>
                  <a:cubicBezTo>
                    <a:pt x="236220" y="4489188"/>
                    <a:pt x="0" y="4323088"/>
                    <a:pt x="0" y="4117484"/>
                  </a:cubicBezTo>
                  <a:close/>
                </a:path>
              </a:pathLst>
            </a:custGeom>
            <a:blipFill>
              <a:blip r:embed="rId5"/>
              <a:stretch>
                <a:fillRect l="0" t="0" r="0" b="-67814"/>
              </a:stretch>
            </a:blipFill>
            <a:ln cap="sq">
              <a:noFill/>
              <a:prstDash val="solid"/>
              <a:miter/>
            </a:ln>
          </p:spPr>
        </p:sp>
      </p:grpSp>
      <p:grpSp>
        <p:nvGrpSpPr>
          <p:cNvPr name="Group 23" id="23"/>
          <p:cNvGrpSpPr/>
          <p:nvPr/>
        </p:nvGrpSpPr>
        <p:grpSpPr>
          <a:xfrm rot="0">
            <a:off x="12021724" y="8393480"/>
            <a:ext cx="4485703" cy="995669"/>
            <a:chOff x="0" y="0"/>
            <a:chExt cx="5980937" cy="1327558"/>
          </a:xfrm>
        </p:grpSpPr>
        <p:sp>
          <p:nvSpPr>
            <p:cNvPr name="TextBox 24" id="24"/>
            <p:cNvSpPr txBox="true"/>
            <p:nvPr/>
          </p:nvSpPr>
          <p:spPr>
            <a:xfrm rot="0">
              <a:off x="0" y="629058"/>
              <a:ext cx="5980937" cy="698500"/>
            </a:xfrm>
            <a:prstGeom prst="rect">
              <a:avLst/>
            </a:prstGeom>
          </p:spPr>
          <p:txBody>
            <a:bodyPr anchor="t" rtlCol="false" tIns="0" lIns="0" bIns="0" rIns="0">
              <a:spAutoFit/>
            </a:bodyPr>
            <a:lstStyle/>
            <a:p>
              <a:pPr algn="l" marL="323850" indent="-161925" lvl="1">
                <a:lnSpc>
                  <a:spcPts val="2100"/>
                </a:lnSpc>
                <a:spcBef>
                  <a:spcPct val="0"/>
                </a:spcBef>
                <a:buFont typeface="Arial"/>
                <a:buChar char="•"/>
              </a:pPr>
              <a:r>
                <a:rPr lang="en-US" sz="1500" spc="61">
                  <a:solidFill>
                    <a:srgbClr val="000000"/>
                  </a:solidFill>
                  <a:latin typeface="Montserrat"/>
                  <a:ea typeface="Montserrat"/>
                  <a:cs typeface="Montserrat"/>
                  <a:sym typeface="Montserrat"/>
                </a:rPr>
                <a:t>How would you qualify your well-being of today?</a:t>
              </a:r>
            </a:p>
          </p:txBody>
        </p:sp>
        <p:sp>
          <p:nvSpPr>
            <p:cNvPr name="TextBox 25" id="25"/>
            <p:cNvSpPr txBox="true"/>
            <p:nvPr/>
          </p:nvSpPr>
          <p:spPr>
            <a:xfrm rot="0">
              <a:off x="0" y="9525"/>
              <a:ext cx="5980937" cy="475615"/>
            </a:xfrm>
            <a:prstGeom prst="rect">
              <a:avLst/>
            </a:prstGeom>
          </p:spPr>
          <p:txBody>
            <a:bodyPr anchor="t" rtlCol="false" tIns="0" lIns="0" bIns="0" rIns="0">
              <a:spAutoFit/>
            </a:bodyPr>
            <a:lstStyle/>
            <a:p>
              <a:pPr algn="l" marL="0" indent="0" lvl="0">
                <a:lnSpc>
                  <a:spcPts val="2640"/>
                </a:lnSpc>
                <a:spcBef>
                  <a:spcPct val="0"/>
                </a:spcBef>
              </a:pPr>
              <a:r>
                <a:rPr lang="en-US" sz="2400">
                  <a:solidFill>
                    <a:srgbClr val="000000"/>
                  </a:solidFill>
                  <a:latin typeface="Alice"/>
                  <a:ea typeface="Alice"/>
                  <a:cs typeface="Alice"/>
                  <a:sym typeface="Alice"/>
                </a:rPr>
                <a:t>General well-being</a:t>
              </a:r>
            </a:p>
          </p:txBody>
        </p:sp>
      </p:grpSp>
      <p:sp>
        <p:nvSpPr>
          <p:cNvPr name="Freeform 26" id="26"/>
          <p:cNvSpPr/>
          <p:nvPr/>
        </p:nvSpPr>
        <p:spPr>
          <a:xfrm flipH="false" flipV="false" rot="0">
            <a:off x="0" y="1896491"/>
            <a:ext cx="8451451" cy="8229600"/>
          </a:xfrm>
          <a:custGeom>
            <a:avLst/>
            <a:gdLst/>
            <a:ahLst/>
            <a:cxnLst/>
            <a:rect r="r" b="b" t="t" l="l"/>
            <a:pathLst>
              <a:path h="8229600" w="8451451">
                <a:moveTo>
                  <a:pt x="0" y="0"/>
                </a:moveTo>
                <a:lnTo>
                  <a:pt x="8451451" y="0"/>
                </a:lnTo>
                <a:lnTo>
                  <a:pt x="8451451" y="8229600"/>
                </a:lnTo>
                <a:lnTo>
                  <a:pt x="0" y="8229600"/>
                </a:lnTo>
                <a:lnTo>
                  <a:pt x="0" y="0"/>
                </a:lnTo>
                <a:close/>
              </a:path>
            </a:pathLst>
          </a:custGeom>
          <a:blipFill>
            <a:blip r:embed="rId6"/>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6EEFD"/>
        </a:solidFill>
      </p:bgPr>
    </p:bg>
    <p:spTree>
      <p:nvGrpSpPr>
        <p:cNvPr id="1" name=""/>
        <p:cNvGrpSpPr/>
        <p:nvPr/>
      </p:nvGrpSpPr>
      <p:grpSpPr>
        <a:xfrm>
          <a:off x="0" y="0"/>
          <a:ext cx="0" cy="0"/>
          <a:chOff x="0" y="0"/>
          <a:chExt cx="0" cy="0"/>
        </a:xfrm>
      </p:grpSpPr>
      <p:grpSp>
        <p:nvGrpSpPr>
          <p:cNvPr name="Group 2" id="2"/>
          <p:cNvGrpSpPr/>
          <p:nvPr/>
        </p:nvGrpSpPr>
        <p:grpSpPr>
          <a:xfrm rot="0">
            <a:off x="1854582" y="1243704"/>
            <a:ext cx="8257508" cy="8229600"/>
            <a:chOff x="0" y="0"/>
            <a:chExt cx="2174817" cy="2167467"/>
          </a:xfrm>
        </p:grpSpPr>
        <p:sp>
          <p:nvSpPr>
            <p:cNvPr name="Freeform 3" id="3"/>
            <p:cNvSpPr/>
            <p:nvPr/>
          </p:nvSpPr>
          <p:spPr>
            <a:xfrm flipH="false" flipV="false" rot="0">
              <a:off x="0" y="0"/>
              <a:ext cx="2174817" cy="2167467"/>
            </a:xfrm>
            <a:custGeom>
              <a:avLst/>
              <a:gdLst/>
              <a:ahLst/>
              <a:cxnLst/>
              <a:rect r="r" b="b" t="t" l="l"/>
              <a:pathLst>
                <a:path h="2167467" w="2174817">
                  <a:moveTo>
                    <a:pt x="47816" y="0"/>
                  </a:moveTo>
                  <a:lnTo>
                    <a:pt x="2127001" y="0"/>
                  </a:lnTo>
                  <a:cubicBezTo>
                    <a:pt x="2153409" y="0"/>
                    <a:pt x="2174817" y="21408"/>
                    <a:pt x="2174817" y="47816"/>
                  </a:cubicBezTo>
                  <a:lnTo>
                    <a:pt x="2174817" y="2119651"/>
                  </a:lnTo>
                  <a:cubicBezTo>
                    <a:pt x="2174817" y="2146059"/>
                    <a:pt x="2153409" y="2167467"/>
                    <a:pt x="2127001" y="2167467"/>
                  </a:cubicBezTo>
                  <a:lnTo>
                    <a:pt x="47816" y="2167467"/>
                  </a:lnTo>
                  <a:cubicBezTo>
                    <a:pt x="35134" y="2167467"/>
                    <a:pt x="22972" y="2162429"/>
                    <a:pt x="14005" y="2153462"/>
                  </a:cubicBezTo>
                  <a:cubicBezTo>
                    <a:pt x="5038" y="2144495"/>
                    <a:pt x="0" y="2132333"/>
                    <a:pt x="0" y="2119651"/>
                  </a:cubicBezTo>
                  <a:lnTo>
                    <a:pt x="0" y="47816"/>
                  </a:lnTo>
                  <a:cubicBezTo>
                    <a:pt x="0" y="21408"/>
                    <a:pt x="21408" y="0"/>
                    <a:pt x="47816" y="0"/>
                  </a:cubicBezTo>
                  <a:close/>
                </a:path>
              </a:pathLst>
            </a:custGeom>
            <a:solidFill>
              <a:srgbClr val="FFFFFF"/>
            </a:solidFill>
          </p:spPr>
        </p:sp>
        <p:sp>
          <p:nvSpPr>
            <p:cNvPr name="TextBox 4" id="4"/>
            <p:cNvSpPr txBox="true"/>
            <p:nvPr/>
          </p:nvSpPr>
          <p:spPr>
            <a:xfrm>
              <a:off x="0" y="-38100"/>
              <a:ext cx="2174817" cy="2205567"/>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865316" y="-296921"/>
            <a:ext cx="8780047" cy="11310850"/>
          </a:xfrm>
          <a:custGeom>
            <a:avLst/>
            <a:gdLst/>
            <a:ahLst/>
            <a:cxnLst/>
            <a:rect r="r" b="b" t="t" l="l"/>
            <a:pathLst>
              <a:path h="11310850" w="8780047">
                <a:moveTo>
                  <a:pt x="0" y="0"/>
                </a:moveTo>
                <a:lnTo>
                  <a:pt x="8780047" y="0"/>
                </a:lnTo>
                <a:lnTo>
                  <a:pt x="8780047" y="11310849"/>
                </a:lnTo>
                <a:lnTo>
                  <a:pt x="0" y="11310849"/>
                </a:lnTo>
                <a:lnTo>
                  <a:pt x="0" y="0"/>
                </a:lnTo>
                <a:close/>
              </a:path>
            </a:pathLst>
          </a:custGeom>
          <a:blipFill>
            <a:blip r:embed="rId2"/>
            <a:stretch>
              <a:fillRect l="0" t="0" r="0" b="0"/>
            </a:stretch>
          </a:blipFill>
        </p:spPr>
      </p:sp>
      <p:sp>
        <p:nvSpPr>
          <p:cNvPr name="Freeform 6" id="6"/>
          <p:cNvSpPr/>
          <p:nvPr/>
        </p:nvSpPr>
        <p:spPr>
          <a:xfrm flipH="false" flipV="false" rot="0">
            <a:off x="4411992" y="1685149"/>
            <a:ext cx="3142688" cy="1695480"/>
          </a:xfrm>
          <a:custGeom>
            <a:avLst/>
            <a:gdLst/>
            <a:ahLst/>
            <a:cxnLst/>
            <a:rect r="r" b="b" t="t" l="l"/>
            <a:pathLst>
              <a:path h="1695480" w="3142688">
                <a:moveTo>
                  <a:pt x="0" y="0"/>
                </a:moveTo>
                <a:lnTo>
                  <a:pt x="3142687" y="0"/>
                </a:lnTo>
                <a:lnTo>
                  <a:pt x="3142687" y="1695480"/>
                </a:lnTo>
                <a:lnTo>
                  <a:pt x="0" y="1695480"/>
                </a:lnTo>
                <a:lnTo>
                  <a:pt x="0" y="0"/>
                </a:lnTo>
                <a:close/>
              </a:path>
            </a:pathLst>
          </a:custGeom>
          <a:blipFill>
            <a:blip r:embed="rId3"/>
            <a:stretch>
              <a:fillRect l="0" t="0" r="0" b="0"/>
            </a:stretch>
          </a:blipFill>
        </p:spPr>
      </p:sp>
      <p:grpSp>
        <p:nvGrpSpPr>
          <p:cNvPr name="Group 7" id="7"/>
          <p:cNvGrpSpPr/>
          <p:nvPr/>
        </p:nvGrpSpPr>
        <p:grpSpPr>
          <a:xfrm rot="0">
            <a:off x="3283299" y="3673298"/>
            <a:ext cx="5400074" cy="1558800"/>
            <a:chOff x="0" y="0"/>
            <a:chExt cx="7200099" cy="2078399"/>
          </a:xfrm>
        </p:grpSpPr>
        <p:sp>
          <p:nvSpPr>
            <p:cNvPr name="TextBox 8" id="8"/>
            <p:cNvSpPr txBox="true"/>
            <p:nvPr/>
          </p:nvSpPr>
          <p:spPr>
            <a:xfrm rot="0">
              <a:off x="0" y="19050"/>
              <a:ext cx="7200099" cy="1189990"/>
            </a:xfrm>
            <a:prstGeom prst="rect">
              <a:avLst/>
            </a:prstGeom>
          </p:spPr>
          <p:txBody>
            <a:bodyPr anchor="t" rtlCol="false" tIns="0" lIns="0" bIns="0" rIns="0">
              <a:spAutoFit/>
            </a:bodyPr>
            <a:lstStyle/>
            <a:p>
              <a:pPr algn="ctr" marL="0" indent="0" lvl="0">
                <a:lnSpc>
                  <a:spcPts val="6959"/>
                </a:lnSpc>
                <a:spcBef>
                  <a:spcPct val="0"/>
                </a:spcBef>
              </a:pPr>
              <a:r>
                <a:rPr lang="en-US" sz="6000">
                  <a:solidFill>
                    <a:srgbClr val="000000"/>
                  </a:solidFill>
                  <a:latin typeface="Alice"/>
                  <a:ea typeface="Alice"/>
                  <a:cs typeface="Alice"/>
                  <a:sym typeface="Alice"/>
                </a:rPr>
                <a:t>THANKS</a:t>
              </a:r>
            </a:p>
          </p:txBody>
        </p:sp>
        <p:sp>
          <p:nvSpPr>
            <p:cNvPr name="TextBox 9" id="9"/>
            <p:cNvSpPr txBox="true"/>
            <p:nvPr/>
          </p:nvSpPr>
          <p:spPr>
            <a:xfrm rot="0">
              <a:off x="0" y="1440224"/>
              <a:ext cx="7200099" cy="638175"/>
            </a:xfrm>
            <a:prstGeom prst="rect">
              <a:avLst/>
            </a:prstGeom>
          </p:spPr>
          <p:txBody>
            <a:bodyPr anchor="t" rtlCol="false" tIns="0" lIns="0" bIns="0" rIns="0">
              <a:spAutoFit/>
            </a:bodyPr>
            <a:lstStyle/>
            <a:p>
              <a:pPr algn="ctr" marL="0" indent="0" lvl="0">
                <a:lnSpc>
                  <a:spcPts val="3900"/>
                </a:lnSpc>
              </a:pPr>
              <a:r>
                <a:rPr lang="en-US" sz="3000">
                  <a:solidFill>
                    <a:srgbClr val="000000"/>
                  </a:solidFill>
                  <a:latin typeface="Montserrat"/>
                  <a:ea typeface="Montserrat"/>
                  <a:cs typeface="Montserrat"/>
                  <a:sym typeface="Montserrat"/>
                </a:rPr>
                <a:t>Let us see your questions</a:t>
              </a:r>
            </a:p>
          </p:txBody>
        </p:sp>
      </p:grpSp>
      <p:grpSp>
        <p:nvGrpSpPr>
          <p:cNvPr name="Group 10" id="10"/>
          <p:cNvGrpSpPr/>
          <p:nvPr/>
        </p:nvGrpSpPr>
        <p:grpSpPr>
          <a:xfrm rot="0">
            <a:off x="3397180" y="6331928"/>
            <a:ext cx="5172312" cy="1886687"/>
            <a:chOff x="0" y="0"/>
            <a:chExt cx="6896416" cy="2515582"/>
          </a:xfrm>
        </p:grpSpPr>
        <p:sp>
          <p:nvSpPr>
            <p:cNvPr name="TextBox 11" id="11"/>
            <p:cNvSpPr txBox="true"/>
            <p:nvPr/>
          </p:nvSpPr>
          <p:spPr>
            <a:xfrm rot="0">
              <a:off x="0" y="-28575"/>
              <a:ext cx="6896416" cy="516255"/>
            </a:xfrm>
            <a:prstGeom prst="rect">
              <a:avLst/>
            </a:prstGeom>
          </p:spPr>
          <p:txBody>
            <a:bodyPr anchor="t" rtlCol="false" tIns="0" lIns="0" bIns="0" rIns="0">
              <a:spAutoFit/>
            </a:bodyPr>
            <a:lstStyle/>
            <a:p>
              <a:pPr algn="ctr" marL="0" indent="0" lvl="0">
                <a:lnSpc>
                  <a:spcPts val="3000"/>
                </a:lnSpc>
                <a:spcBef>
                  <a:spcPct val="0"/>
                </a:spcBef>
              </a:pPr>
              <a:r>
                <a:rPr lang="en-US" sz="2400">
                  <a:solidFill>
                    <a:srgbClr val="000000"/>
                  </a:solidFill>
                  <a:latin typeface="Alice"/>
                  <a:ea typeface="Alice"/>
                  <a:cs typeface="Alice"/>
                  <a:sym typeface="Alice"/>
                </a:rPr>
                <a:t>Team members</a:t>
              </a:r>
            </a:p>
          </p:txBody>
        </p:sp>
        <p:sp>
          <p:nvSpPr>
            <p:cNvPr name="TextBox 12" id="12"/>
            <p:cNvSpPr txBox="true"/>
            <p:nvPr/>
          </p:nvSpPr>
          <p:spPr>
            <a:xfrm rot="0">
              <a:off x="0" y="616297"/>
              <a:ext cx="6896416" cy="1899285"/>
            </a:xfrm>
            <a:prstGeom prst="rect">
              <a:avLst/>
            </a:prstGeom>
          </p:spPr>
          <p:txBody>
            <a:bodyPr anchor="t" rtlCol="false" tIns="0" lIns="0" bIns="0" rIns="0">
              <a:spAutoFit/>
            </a:bodyPr>
            <a:lstStyle/>
            <a:p>
              <a:pPr algn="ctr" marL="0" indent="0" lvl="0">
                <a:lnSpc>
                  <a:spcPts val="2250"/>
                </a:lnSpc>
                <a:spcBef>
                  <a:spcPct val="0"/>
                </a:spcBef>
              </a:pPr>
              <a:r>
                <a:rPr lang="en-US" b="true" sz="1800">
                  <a:solidFill>
                    <a:srgbClr val="000000"/>
                  </a:solidFill>
                  <a:latin typeface="Montserrat Bold"/>
                  <a:ea typeface="Montserrat Bold"/>
                  <a:cs typeface="Montserrat Bold"/>
                  <a:sym typeface="Montserrat Bold"/>
                </a:rPr>
                <a:t>Barraza T</a:t>
              </a:r>
              <a:r>
                <a:rPr lang="en-US" b="true" sz="1800" strike="noStrike" u="none">
                  <a:solidFill>
                    <a:srgbClr val="000000"/>
                  </a:solidFill>
                  <a:latin typeface="Montserrat Bold"/>
                  <a:ea typeface="Montserrat Bold"/>
                  <a:cs typeface="Montserrat Bold"/>
                  <a:sym typeface="Montserrat Bold"/>
                </a:rPr>
                <a:t>orres Jesús Daniel</a:t>
              </a:r>
            </a:p>
            <a:p>
              <a:pPr algn="ctr" marL="0" indent="0" lvl="0">
                <a:lnSpc>
                  <a:spcPts val="2250"/>
                </a:lnSpc>
                <a:spcBef>
                  <a:spcPct val="0"/>
                </a:spcBef>
              </a:pPr>
              <a:r>
                <a:rPr lang="en-US" b="true" sz="1800" strike="noStrike" u="none">
                  <a:solidFill>
                    <a:srgbClr val="000000"/>
                  </a:solidFill>
                  <a:latin typeface="Montserrat Bold"/>
                  <a:ea typeface="Montserrat Bold"/>
                  <a:cs typeface="Montserrat Bold"/>
                  <a:sym typeface="Montserrat Bold"/>
                </a:rPr>
                <a:t>Cardiel Mares Emiliano Arturo</a:t>
              </a:r>
            </a:p>
            <a:p>
              <a:pPr algn="ctr" marL="0" indent="0" lvl="0">
                <a:lnSpc>
                  <a:spcPts val="2250"/>
                </a:lnSpc>
                <a:spcBef>
                  <a:spcPct val="0"/>
                </a:spcBef>
              </a:pPr>
              <a:r>
                <a:rPr lang="en-US" b="true" sz="1800" strike="noStrike" u="none">
                  <a:solidFill>
                    <a:srgbClr val="000000"/>
                  </a:solidFill>
                  <a:latin typeface="Montserrat Bold"/>
                  <a:ea typeface="Montserrat Bold"/>
                  <a:cs typeface="Montserrat Bold"/>
                  <a:sym typeface="Montserrat Bold"/>
                </a:rPr>
                <a:t>Flores Hernández José Fernando</a:t>
              </a:r>
            </a:p>
            <a:p>
              <a:pPr algn="ctr" marL="0" indent="0" lvl="0">
                <a:lnSpc>
                  <a:spcPts val="2250"/>
                </a:lnSpc>
                <a:spcBef>
                  <a:spcPct val="0"/>
                </a:spcBef>
              </a:pPr>
              <a:r>
                <a:rPr lang="en-US" b="true" sz="1800" strike="noStrike" u="none">
                  <a:solidFill>
                    <a:srgbClr val="000000"/>
                  </a:solidFill>
                  <a:latin typeface="Montserrat Bold"/>
                  <a:ea typeface="Montserrat Bold"/>
                  <a:cs typeface="Montserrat Bold"/>
                  <a:sym typeface="Montserrat Bold"/>
                </a:rPr>
                <a:t>Rivera Leyva Sebastián</a:t>
              </a:r>
            </a:p>
            <a:p>
              <a:pPr algn="ctr" marL="0" indent="0" lvl="0">
                <a:lnSpc>
                  <a:spcPts val="2250"/>
                </a:lnSpc>
                <a:spcBef>
                  <a:spcPct val="0"/>
                </a:spcBef>
              </a:pPr>
              <a:r>
                <a:rPr lang="en-US" b="true" sz="1800" strike="noStrike" u="none">
                  <a:solidFill>
                    <a:srgbClr val="000000"/>
                  </a:solidFill>
                  <a:latin typeface="Montserrat Bold"/>
                  <a:ea typeface="Montserrat Bold"/>
                  <a:cs typeface="Montserrat Bold"/>
                  <a:sym typeface="Montserrat Bold"/>
                </a:rPr>
                <a:t>Rodríguez Sánchez Carlos Manuel</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DAHPS9DrC0s</dc:identifier>
  <dcterms:modified xsi:type="dcterms:W3CDTF">2011-08-01T06:04:30Z</dcterms:modified>
  <cp:revision>1</cp:revision>
  <dc:title>Emotional wellness</dc:title>
</cp:coreProperties>
</file>